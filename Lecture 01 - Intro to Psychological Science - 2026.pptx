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316" r:id="rId36"/>
    <p:sldId id="285" r:id="rId3"/>
    <p:sldId id="313" r:id="rId4"/>
    <p:sldId id="312" r:id="rId5"/>
    <p:sldId id="310" r:id="rId6"/>
    <p:sldId id="311" r:id="rId7"/>
    <p:sldId id="307" r:id="rId8"/>
    <p:sldId id="292" r:id="rId9"/>
    <p:sldId id="268" r:id="rId10"/>
    <p:sldId id="308" r:id="rId11"/>
    <p:sldId id="293" r:id="rId12"/>
    <p:sldId id="309" r:id="rId13"/>
    <p:sldId id="257" r:id="rId14"/>
    <p:sldId id="315" r:id="rId15"/>
    <p:sldId id="286" r:id="rId16"/>
    <p:sldId id="314" r:id="rId17"/>
    <p:sldId id="295" r:id="rId18"/>
    <p:sldId id="269" r:id="rId19"/>
    <p:sldId id="317" r:id="rId37"/>
    <p:sldId id="277" r:id="rId20"/>
    <p:sldId id="296" r:id="rId21"/>
    <p:sldId id="297" r:id="rId22"/>
    <p:sldId id="270" r:id="rId23"/>
    <p:sldId id="278" r:id="rId24"/>
    <p:sldId id="298" r:id="rId25"/>
    <p:sldId id="272" r:id="rId26"/>
    <p:sldId id="271" r:id="rId27"/>
    <p:sldId id="279" r:id="rId28"/>
    <p:sldId id="276" r:id="rId29"/>
    <p:sldId id="30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9" autoAdjust="0"/>
    <p:restoredTop sz="76579" autoAdjust="0"/>
  </p:normalViewPr>
  <p:slideViewPr>
    <p:cSldViewPr>
      <p:cViewPr varScale="1">
        <p:scale>
          <a:sx n="89" d="100"/>
          <a:sy n="89" d="100"/>
        </p:scale>
        <p:origin x="223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4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.xml"/><Relationship Id="rId37" Type="http://schemas.openxmlformats.org/officeDocument/2006/relationships/slide" Target="slides/slide20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ABC450-3D4F-4E79-AA83-E9CA602A44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841B5D7-2276-409E-A556-0F8A431474B8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dirty="0"/>
            <a:t>MCQ test </a:t>
          </a:r>
          <a:endParaRPr lang="en-US" dirty="0"/>
        </a:p>
      </dgm:t>
    </dgm:pt>
    <dgm:pt modelId="{FB5C0232-E503-4F45-B9E2-0B82F5647330}" type="parTrans" cxnId="{D0F74E15-1004-4C5D-8403-B04332952C37}">
      <dgm:prSet/>
      <dgm:spPr/>
      <dgm:t>
        <a:bodyPr/>
        <a:lstStyle/>
        <a:p>
          <a:endParaRPr lang="en-US"/>
        </a:p>
      </dgm:t>
    </dgm:pt>
    <dgm:pt modelId="{832D86AA-2AD9-4D9B-BB5F-4CFAF5481A35}" type="sibTrans" cxnId="{D0F74E15-1004-4C5D-8403-B04332952C37}">
      <dgm:prSet/>
      <dgm:spPr/>
      <dgm:t>
        <a:bodyPr/>
        <a:lstStyle/>
        <a:p>
          <a:endParaRPr lang="en-US"/>
        </a:p>
      </dgm:t>
    </dgm:pt>
    <dgm:pt modelId="{3C2411AE-B924-4ECA-BD15-182B15FEB8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E" sz="2000" dirty="0"/>
            <a:t>15 Oct 3pm</a:t>
          </a:r>
          <a:endParaRPr lang="en-US" sz="2000" dirty="0"/>
        </a:p>
      </dgm:t>
    </dgm:pt>
    <dgm:pt modelId="{324643A6-1B30-400C-98D8-F14CD9933CE1}" type="parTrans" cxnId="{4698EE14-9BDD-42D5-8758-238540FCF173}">
      <dgm:prSet/>
      <dgm:spPr/>
      <dgm:t>
        <a:bodyPr/>
        <a:lstStyle/>
        <a:p>
          <a:endParaRPr lang="en-US"/>
        </a:p>
      </dgm:t>
    </dgm:pt>
    <dgm:pt modelId="{EEB7CDCF-6AA0-4812-AC27-4908D9E79957}" type="sibTrans" cxnId="{4698EE14-9BDD-42D5-8758-238540FCF173}">
      <dgm:prSet/>
      <dgm:spPr/>
      <dgm:t>
        <a:bodyPr/>
        <a:lstStyle/>
        <a:p>
          <a:endParaRPr lang="en-US"/>
        </a:p>
      </dgm:t>
    </dgm:pt>
    <dgm:pt modelId="{BE1DC54D-0A63-4886-A02A-741841FF00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E" sz="2000" dirty="0"/>
            <a:t>Will assess topics covered in lectures 1-11</a:t>
          </a:r>
          <a:endParaRPr lang="en-US" sz="2000" dirty="0"/>
        </a:p>
      </dgm:t>
    </dgm:pt>
    <dgm:pt modelId="{6AED4757-8D80-41B2-80CF-9AC0B8511A4A}" type="parTrans" cxnId="{DA2C6950-8581-4099-A7EB-8669BEFE0BE8}">
      <dgm:prSet/>
      <dgm:spPr/>
      <dgm:t>
        <a:bodyPr/>
        <a:lstStyle/>
        <a:p>
          <a:endParaRPr lang="en-US"/>
        </a:p>
      </dgm:t>
    </dgm:pt>
    <dgm:pt modelId="{58503E3F-751F-478B-B076-9D46193C3877}" type="sibTrans" cxnId="{DA2C6950-8581-4099-A7EB-8669BEFE0BE8}">
      <dgm:prSet/>
      <dgm:spPr/>
      <dgm:t>
        <a:bodyPr/>
        <a:lstStyle/>
        <a:p>
          <a:endParaRPr lang="en-US"/>
        </a:p>
      </dgm:t>
    </dgm:pt>
    <dgm:pt modelId="{C02BEE81-757C-48EA-B0A8-92F6AE1128F3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dirty="0"/>
            <a:t>Taken in class</a:t>
          </a:r>
          <a:endParaRPr lang="en-US" dirty="0"/>
        </a:p>
      </dgm:t>
    </dgm:pt>
    <dgm:pt modelId="{151C6065-6613-419E-88E6-DDBABDB053FC}" type="parTrans" cxnId="{61719504-1E07-4CF8-9931-76BFBCE3CB5E}">
      <dgm:prSet/>
      <dgm:spPr/>
      <dgm:t>
        <a:bodyPr/>
        <a:lstStyle/>
        <a:p>
          <a:endParaRPr lang="en-US"/>
        </a:p>
      </dgm:t>
    </dgm:pt>
    <dgm:pt modelId="{B76535E3-E608-4CF0-BCFD-77560DF9B570}" type="sibTrans" cxnId="{61719504-1E07-4CF8-9931-76BFBCE3CB5E}">
      <dgm:prSet/>
      <dgm:spPr/>
      <dgm:t>
        <a:bodyPr/>
        <a:lstStyle/>
        <a:p>
          <a:endParaRPr lang="en-US"/>
        </a:p>
      </dgm:t>
    </dgm:pt>
    <dgm:pt modelId="{4EB1C003-2B8F-4458-AF81-CA48D4DEB5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E" sz="2000" dirty="0"/>
            <a:t>On own device</a:t>
          </a:r>
        </a:p>
        <a:p>
          <a:pPr>
            <a:lnSpc>
              <a:spcPct val="100000"/>
            </a:lnSpc>
          </a:pPr>
          <a:r>
            <a:rPr lang="en-IE" sz="2000" dirty="0"/>
            <a:t>Practice test will be available beforehand</a:t>
          </a:r>
          <a:endParaRPr lang="en-US" sz="2000" dirty="0"/>
        </a:p>
      </dgm:t>
    </dgm:pt>
    <dgm:pt modelId="{A785C037-661C-429C-A02E-E3EA0E82B1D7}" type="parTrans" cxnId="{AC02AAB0-3E94-48D1-9F88-F5A69B75DD67}">
      <dgm:prSet/>
      <dgm:spPr/>
      <dgm:t>
        <a:bodyPr/>
        <a:lstStyle/>
        <a:p>
          <a:endParaRPr lang="en-US"/>
        </a:p>
      </dgm:t>
    </dgm:pt>
    <dgm:pt modelId="{DF1D6668-6AF6-4B08-8740-B7C74D7B9E6E}" type="sibTrans" cxnId="{AC02AAB0-3E94-48D1-9F88-F5A69B75DD67}">
      <dgm:prSet/>
      <dgm:spPr/>
      <dgm:t>
        <a:bodyPr/>
        <a:lstStyle/>
        <a:p>
          <a:endParaRPr lang="en-US"/>
        </a:p>
      </dgm:t>
    </dgm:pt>
    <dgm:pt modelId="{62BF8166-F14C-4FB1-9530-E705DA61558A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dirty="0"/>
            <a:t>30 questions</a:t>
          </a:r>
          <a:endParaRPr lang="en-US" dirty="0"/>
        </a:p>
      </dgm:t>
    </dgm:pt>
    <dgm:pt modelId="{06FE8CAD-79B5-4E54-9E4D-04904E847BF6}" type="parTrans" cxnId="{95CEABDC-13E7-4244-9F89-B5D09241AF3C}">
      <dgm:prSet/>
      <dgm:spPr/>
      <dgm:t>
        <a:bodyPr/>
        <a:lstStyle/>
        <a:p>
          <a:endParaRPr lang="en-US"/>
        </a:p>
      </dgm:t>
    </dgm:pt>
    <dgm:pt modelId="{663C5588-7593-439D-9AD4-B07A1937AEA9}" type="sibTrans" cxnId="{95CEABDC-13E7-4244-9F89-B5D09241AF3C}">
      <dgm:prSet/>
      <dgm:spPr/>
      <dgm:t>
        <a:bodyPr/>
        <a:lstStyle/>
        <a:p>
          <a:endParaRPr lang="en-US"/>
        </a:p>
      </dgm:t>
    </dgm:pt>
    <dgm:pt modelId="{29E0E5A3-58EE-4033-81BD-7A96467271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E" sz="2000" dirty="0"/>
            <a:t>4 answer options</a:t>
          </a:r>
          <a:endParaRPr lang="en-US" sz="2000" dirty="0"/>
        </a:p>
      </dgm:t>
    </dgm:pt>
    <dgm:pt modelId="{5433B03A-6063-4860-BB51-57F10CC28494}" type="parTrans" cxnId="{8045CDA8-22AA-4196-BD7F-CCD9ACC4BE03}">
      <dgm:prSet/>
      <dgm:spPr/>
      <dgm:t>
        <a:bodyPr/>
        <a:lstStyle/>
        <a:p>
          <a:endParaRPr lang="en-US"/>
        </a:p>
      </dgm:t>
    </dgm:pt>
    <dgm:pt modelId="{6C402EB0-5BD9-4A03-B816-EEB5F670ECF1}" type="sibTrans" cxnId="{8045CDA8-22AA-4196-BD7F-CCD9ACC4BE03}">
      <dgm:prSet/>
      <dgm:spPr/>
      <dgm:t>
        <a:bodyPr/>
        <a:lstStyle/>
        <a:p>
          <a:endParaRPr lang="en-US"/>
        </a:p>
      </dgm:t>
    </dgm:pt>
    <dgm:pt modelId="{BEA30676-81E2-49EB-9403-0A8210FE90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E" sz="2000" dirty="0"/>
            <a:t>30 minutes</a:t>
          </a:r>
        </a:p>
        <a:p>
          <a:pPr>
            <a:lnSpc>
              <a:spcPct val="100000"/>
            </a:lnSpc>
          </a:pPr>
          <a:r>
            <a:rPr lang="en-IE" sz="2000" dirty="0"/>
            <a:t>No negative marking</a:t>
          </a:r>
          <a:endParaRPr lang="en-US" sz="2000" dirty="0"/>
        </a:p>
      </dgm:t>
    </dgm:pt>
    <dgm:pt modelId="{EB3FE6A4-2206-40D7-8469-66DBCEC556E1}" type="parTrans" cxnId="{793E2D3C-9D80-400F-99C4-D752315040A2}">
      <dgm:prSet/>
      <dgm:spPr/>
      <dgm:t>
        <a:bodyPr/>
        <a:lstStyle/>
        <a:p>
          <a:endParaRPr lang="en-US"/>
        </a:p>
      </dgm:t>
    </dgm:pt>
    <dgm:pt modelId="{CF265A29-3B23-41D5-8B26-2E68AC246E10}" type="sibTrans" cxnId="{793E2D3C-9D80-400F-99C4-D752315040A2}">
      <dgm:prSet/>
      <dgm:spPr/>
      <dgm:t>
        <a:bodyPr/>
        <a:lstStyle/>
        <a:p>
          <a:endParaRPr lang="en-US"/>
        </a:p>
      </dgm:t>
    </dgm:pt>
    <dgm:pt modelId="{BB4009DF-B41D-430D-B63F-DFFC1FA5495D}" type="pres">
      <dgm:prSet presAssocID="{A9ABC450-3D4F-4E79-AA83-E9CA602A4418}" presName="root" presStyleCnt="0">
        <dgm:presLayoutVars>
          <dgm:dir/>
          <dgm:resizeHandles val="exact"/>
        </dgm:presLayoutVars>
      </dgm:prSet>
      <dgm:spPr/>
    </dgm:pt>
    <dgm:pt modelId="{7AA726AA-6F60-478E-B4A5-BF3D46B7943A}" type="pres">
      <dgm:prSet presAssocID="{0841B5D7-2276-409E-A556-0F8A431474B8}" presName="compNode" presStyleCnt="0"/>
      <dgm:spPr/>
    </dgm:pt>
    <dgm:pt modelId="{E15D1A90-5CDD-4F32-B4FA-E71C28FDC5A9}" type="pres">
      <dgm:prSet presAssocID="{0841B5D7-2276-409E-A556-0F8A431474B8}" presName="bgRect" presStyleLbl="bgShp" presStyleIdx="0" presStyleCnt="3" custLinFactNeighborY="2010"/>
      <dgm:spPr/>
    </dgm:pt>
    <dgm:pt modelId="{644AD921-88B2-41B4-B42F-2B40DFB36692}" type="pres">
      <dgm:prSet presAssocID="{0841B5D7-2276-409E-A556-0F8A431474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09F77E-A3E2-4D44-8E33-8378AE66A044}" type="pres">
      <dgm:prSet presAssocID="{0841B5D7-2276-409E-A556-0F8A431474B8}" presName="spaceRect" presStyleCnt="0"/>
      <dgm:spPr/>
    </dgm:pt>
    <dgm:pt modelId="{2A30E66B-E86A-43D5-BF46-419F27E95517}" type="pres">
      <dgm:prSet presAssocID="{0841B5D7-2276-409E-A556-0F8A431474B8}" presName="parTx" presStyleLbl="revTx" presStyleIdx="0" presStyleCnt="6">
        <dgm:presLayoutVars>
          <dgm:chMax val="0"/>
          <dgm:chPref val="0"/>
        </dgm:presLayoutVars>
      </dgm:prSet>
      <dgm:spPr/>
    </dgm:pt>
    <dgm:pt modelId="{A532D932-3021-4372-B4D1-65F668C46669}" type="pres">
      <dgm:prSet presAssocID="{0841B5D7-2276-409E-A556-0F8A431474B8}" presName="desTx" presStyleLbl="revTx" presStyleIdx="1" presStyleCnt="6" custScaleX="99319">
        <dgm:presLayoutVars/>
      </dgm:prSet>
      <dgm:spPr/>
    </dgm:pt>
    <dgm:pt modelId="{7BDE76FC-4360-4B6D-848A-FE945B9530F4}" type="pres">
      <dgm:prSet presAssocID="{832D86AA-2AD9-4D9B-BB5F-4CFAF5481A35}" presName="sibTrans" presStyleCnt="0"/>
      <dgm:spPr/>
    </dgm:pt>
    <dgm:pt modelId="{10E43200-FCC7-46AC-BBCC-78162B97BF8A}" type="pres">
      <dgm:prSet presAssocID="{C02BEE81-757C-48EA-B0A8-92F6AE1128F3}" presName="compNode" presStyleCnt="0"/>
      <dgm:spPr/>
    </dgm:pt>
    <dgm:pt modelId="{17E76D26-DAE2-4320-86E6-F074D55A850A}" type="pres">
      <dgm:prSet presAssocID="{C02BEE81-757C-48EA-B0A8-92F6AE1128F3}" presName="bgRect" presStyleLbl="bgShp" presStyleIdx="1" presStyleCnt="3" custLinFactNeighborY="1070"/>
      <dgm:spPr/>
    </dgm:pt>
    <dgm:pt modelId="{8442CD48-9FB1-4DF8-A38F-6BDB1B1A5306}" type="pres">
      <dgm:prSet presAssocID="{C02BEE81-757C-48EA-B0A8-92F6AE1128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1428706-78CD-413C-B496-C004B4E02BB7}" type="pres">
      <dgm:prSet presAssocID="{C02BEE81-757C-48EA-B0A8-92F6AE1128F3}" presName="spaceRect" presStyleCnt="0"/>
      <dgm:spPr/>
    </dgm:pt>
    <dgm:pt modelId="{0F1840A9-054B-496B-8988-0C75DCB6828D}" type="pres">
      <dgm:prSet presAssocID="{C02BEE81-757C-48EA-B0A8-92F6AE1128F3}" presName="parTx" presStyleLbl="revTx" presStyleIdx="2" presStyleCnt="6">
        <dgm:presLayoutVars>
          <dgm:chMax val="0"/>
          <dgm:chPref val="0"/>
        </dgm:presLayoutVars>
      </dgm:prSet>
      <dgm:spPr/>
    </dgm:pt>
    <dgm:pt modelId="{CC7E940F-7573-4F12-8CD4-DF8505958ACB}" type="pres">
      <dgm:prSet presAssocID="{C02BEE81-757C-48EA-B0A8-92F6AE1128F3}" presName="desTx" presStyleLbl="revTx" presStyleIdx="3" presStyleCnt="6">
        <dgm:presLayoutVars/>
      </dgm:prSet>
      <dgm:spPr/>
    </dgm:pt>
    <dgm:pt modelId="{CEFE91E2-B86A-454F-923E-11B9131656C5}" type="pres">
      <dgm:prSet presAssocID="{B76535E3-E608-4CF0-BCFD-77560DF9B570}" presName="sibTrans" presStyleCnt="0"/>
      <dgm:spPr/>
    </dgm:pt>
    <dgm:pt modelId="{BCB5FE29-5BF8-4184-8B2B-1F0EAD8C6EF5}" type="pres">
      <dgm:prSet presAssocID="{62BF8166-F14C-4FB1-9530-E705DA61558A}" presName="compNode" presStyleCnt="0"/>
      <dgm:spPr/>
    </dgm:pt>
    <dgm:pt modelId="{58BED507-1CF4-401B-BE5B-D0B9E851F78F}" type="pres">
      <dgm:prSet presAssocID="{62BF8166-F14C-4FB1-9530-E705DA61558A}" presName="bgRect" presStyleLbl="bgShp" presStyleIdx="2" presStyleCnt="3"/>
      <dgm:spPr/>
    </dgm:pt>
    <dgm:pt modelId="{10B061D3-17CA-458D-B13C-F329A9A066A5}" type="pres">
      <dgm:prSet presAssocID="{62BF8166-F14C-4FB1-9530-E705DA6155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4F88F7E-AEC2-4DC1-9A1D-A90F449E1F38}" type="pres">
      <dgm:prSet presAssocID="{62BF8166-F14C-4FB1-9530-E705DA61558A}" presName="spaceRect" presStyleCnt="0"/>
      <dgm:spPr/>
    </dgm:pt>
    <dgm:pt modelId="{821683AE-3CEE-43B9-ADE6-A13EFC7BD953}" type="pres">
      <dgm:prSet presAssocID="{62BF8166-F14C-4FB1-9530-E705DA61558A}" presName="parTx" presStyleLbl="revTx" presStyleIdx="4" presStyleCnt="6">
        <dgm:presLayoutVars>
          <dgm:chMax val="0"/>
          <dgm:chPref val="0"/>
        </dgm:presLayoutVars>
      </dgm:prSet>
      <dgm:spPr/>
    </dgm:pt>
    <dgm:pt modelId="{B995E46E-2BEE-459C-9A0D-F45D1F23C89C}" type="pres">
      <dgm:prSet presAssocID="{62BF8166-F14C-4FB1-9530-E705DA61558A}" presName="desTx" presStyleLbl="revTx" presStyleIdx="5" presStyleCnt="6">
        <dgm:presLayoutVars/>
      </dgm:prSet>
      <dgm:spPr/>
    </dgm:pt>
  </dgm:ptLst>
  <dgm:cxnLst>
    <dgm:cxn modelId="{61719504-1E07-4CF8-9931-76BFBCE3CB5E}" srcId="{A9ABC450-3D4F-4E79-AA83-E9CA602A4418}" destId="{C02BEE81-757C-48EA-B0A8-92F6AE1128F3}" srcOrd="1" destOrd="0" parTransId="{151C6065-6613-419E-88E6-DDBABDB053FC}" sibTransId="{B76535E3-E608-4CF0-BCFD-77560DF9B570}"/>
    <dgm:cxn modelId="{F7118610-AD15-4B5C-80E4-FA697D436304}" type="presOf" srcId="{0841B5D7-2276-409E-A556-0F8A431474B8}" destId="{2A30E66B-E86A-43D5-BF46-419F27E95517}" srcOrd="0" destOrd="0" presId="urn:microsoft.com/office/officeart/2018/2/layout/IconVerticalSolidList"/>
    <dgm:cxn modelId="{4698EE14-9BDD-42D5-8758-238540FCF173}" srcId="{0841B5D7-2276-409E-A556-0F8A431474B8}" destId="{3C2411AE-B924-4ECA-BD15-182B15FEB84B}" srcOrd="0" destOrd="0" parTransId="{324643A6-1B30-400C-98D8-F14CD9933CE1}" sibTransId="{EEB7CDCF-6AA0-4812-AC27-4908D9E79957}"/>
    <dgm:cxn modelId="{D0F74E15-1004-4C5D-8403-B04332952C37}" srcId="{A9ABC450-3D4F-4E79-AA83-E9CA602A4418}" destId="{0841B5D7-2276-409E-A556-0F8A431474B8}" srcOrd="0" destOrd="0" parTransId="{FB5C0232-E503-4F45-B9E2-0B82F5647330}" sibTransId="{832D86AA-2AD9-4D9B-BB5F-4CFAF5481A35}"/>
    <dgm:cxn modelId="{3A3C2916-0508-4455-84EE-EB65E90F1FE0}" type="presOf" srcId="{A9ABC450-3D4F-4E79-AA83-E9CA602A4418}" destId="{BB4009DF-B41D-430D-B63F-DFFC1FA5495D}" srcOrd="0" destOrd="0" presId="urn:microsoft.com/office/officeart/2018/2/layout/IconVerticalSolidList"/>
    <dgm:cxn modelId="{793E2D3C-9D80-400F-99C4-D752315040A2}" srcId="{62BF8166-F14C-4FB1-9530-E705DA61558A}" destId="{BEA30676-81E2-49EB-9403-0A8210FE906B}" srcOrd="1" destOrd="0" parTransId="{EB3FE6A4-2206-40D7-8469-66DBCEC556E1}" sibTransId="{CF265A29-3B23-41D5-8B26-2E68AC246E10}"/>
    <dgm:cxn modelId="{2EFB3347-0AA9-4505-9F4E-BE8C879EA260}" type="presOf" srcId="{62BF8166-F14C-4FB1-9530-E705DA61558A}" destId="{821683AE-3CEE-43B9-ADE6-A13EFC7BD953}" srcOrd="0" destOrd="0" presId="urn:microsoft.com/office/officeart/2018/2/layout/IconVerticalSolidList"/>
    <dgm:cxn modelId="{660B4B4A-E2A7-44AC-A5FD-DEA5C7CA36EE}" type="presOf" srcId="{4EB1C003-2B8F-4458-AF81-CA48D4DEB58A}" destId="{CC7E940F-7573-4F12-8CD4-DF8505958ACB}" srcOrd="0" destOrd="0" presId="urn:microsoft.com/office/officeart/2018/2/layout/IconVerticalSolidList"/>
    <dgm:cxn modelId="{DA2C6950-8581-4099-A7EB-8669BEFE0BE8}" srcId="{0841B5D7-2276-409E-A556-0F8A431474B8}" destId="{BE1DC54D-0A63-4886-A02A-741841FF007D}" srcOrd="1" destOrd="0" parTransId="{6AED4757-8D80-41B2-80CF-9AC0B8511A4A}" sibTransId="{58503E3F-751F-478B-B076-9D46193C3877}"/>
    <dgm:cxn modelId="{382E4169-1D43-415A-9855-2EEBA971FD37}" type="presOf" srcId="{3C2411AE-B924-4ECA-BD15-182B15FEB84B}" destId="{A532D932-3021-4372-B4D1-65F668C46669}" srcOrd="0" destOrd="0" presId="urn:microsoft.com/office/officeart/2018/2/layout/IconVerticalSolidList"/>
    <dgm:cxn modelId="{FA22B36E-3C78-4392-9E8A-1B647237D3A6}" type="presOf" srcId="{BEA30676-81E2-49EB-9403-0A8210FE906B}" destId="{B995E46E-2BEE-459C-9A0D-F45D1F23C89C}" srcOrd="0" destOrd="1" presId="urn:microsoft.com/office/officeart/2018/2/layout/IconVerticalSolidList"/>
    <dgm:cxn modelId="{4FEDFA94-2500-433C-B6B0-5FABAFCB5582}" type="presOf" srcId="{BE1DC54D-0A63-4886-A02A-741841FF007D}" destId="{A532D932-3021-4372-B4D1-65F668C46669}" srcOrd="0" destOrd="1" presId="urn:microsoft.com/office/officeart/2018/2/layout/IconVerticalSolidList"/>
    <dgm:cxn modelId="{8045CDA8-22AA-4196-BD7F-CCD9ACC4BE03}" srcId="{62BF8166-F14C-4FB1-9530-E705DA61558A}" destId="{29E0E5A3-58EE-4033-81BD-7A964672717E}" srcOrd="0" destOrd="0" parTransId="{5433B03A-6063-4860-BB51-57F10CC28494}" sibTransId="{6C402EB0-5BD9-4A03-B816-EEB5F670ECF1}"/>
    <dgm:cxn modelId="{AC02AAB0-3E94-48D1-9F88-F5A69B75DD67}" srcId="{C02BEE81-757C-48EA-B0A8-92F6AE1128F3}" destId="{4EB1C003-2B8F-4458-AF81-CA48D4DEB58A}" srcOrd="0" destOrd="0" parTransId="{A785C037-661C-429C-A02E-E3EA0E82B1D7}" sibTransId="{DF1D6668-6AF6-4B08-8740-B7C74D7B9E6E}"/>
    <dgm:cxn modelId="{95CEABDC-13E7-4244-9F89-B5D09241AF3C}" srcId="{A9ABC450-3D4F-4E79-AA83-E9CA602A4418}" destId="{62BF8166-F14C-4FB1-9530-E705DA61558A}" srcOrd="2" destOrd="0" parTransId="{06FE8CAD-79B5-4E54-9E4D-04904E847BF6}" sibTransId="{663C5588-7593-439D-9AD4-B07A1937AEA9}"/>
    <dgm:cxn modelId="{CEB1ADE0-2343-4969-BBBA-5D948048AA1F}" type="presOf" srcId="{29E0E5A3-58EE-4033-81BD-7A964672717E}" destId="{B995E46E-2BEE-459C-9A0D-F45D1F23C89C}" srcOrd="0" destOrd="0" presId="urn:microsoft.com/office/officeart/2018/2/layout/IconVerticalSolidList"/>
    <dgm:cxn modelId="{50CDE2E7-6614-4059-B287-DD448A89B630}" type="presOf" srcId="{C02BEE81-757C-48EA-B0A8-92F6AE1128F3}" destId="{0F1840A9-054B-496B-8988-0C75DCB6828D}" srcOrd="0" destOrd="0" presId="urn:microsoft.com/office/officeart/2018/2/layout/IconVerticalSolidList"/>
    <dgm:cxn modelId="{7CBCC32F-ADB3-4259-8722-2870A91221FC}" type="presParOf" srcId="{BB4009DF-B41D-430D-B63F-DFFC1FA5495D}" destId="{7AA726AA-6F60-478E-B4A5-BF3D46B7943A}" srcOrd="0" destOrd="0" presId="urn:microsoft.com/office/officeart/2018/2/layout/IconVerticalSolidList"/>
    <dgm:cxn modelId="{EB90138E-B459-43C1-BB98-3D4F34173985}" type="presParOf" srcId="{7AA726AA-6F60-478E-B4A5-BF3D46B7943A}" destId="{E15D1A90-5CDD-4F32-B4FA-E71C28FDC5A9}" srcOrd="0" destOrd="0" presId="urn:microsoft.com/office/officeart/2018/2/layout/IconVerticalSolidList"/>
    <dgm:cxn modelId="{776C7B3B-EF33-4A01-9C7C-212341953E56}" type="presParOf" srcId="{7AA726AA-6F60-478E-B4A5-BF3D46B7943A}" destId="{644AD921-88B2-41B4-B42F-2B40DFB36692}" srcOrd="1" destOrd="0" presId="urn:microsoft.com/office/officeart/2018/2/layout/IconVerticalSolidList"/>
    <dgm:cxn modelId="{32874272-804C-494D-95FB-C6CFFD8F8957}" type="presParOf" srcId="{7AA726AA-6F60-478E-B4A5-BF3D46B7943A}" destId="{5B09F77E-A3E2-4D44-8E33-8378AE66A044}" srcOrd="2" destOrd="0" presId="urn:microsoft.com/office/officeart/2018/2/layout/IconVerticalSolidList"/>
    <dgm:cxn modelId="{4A420FE0-2AAB-46E2-AAF4-4C66EEA10407}" type="presParOf" srcId="{7AA726AA-6F60-478E-B4A5-BF3D46B7943A}" destId="{2A30E66B-E86A-43D5-BF46-419F27E95517}" srcOrd="3" destOrd="0" presId="urn:microsoft.com/office/officeart/2018/2/layout/IconVerticalSolidList"/>
    <dgm:cxn modelId="{7A3D2A78-28F8-4001-86A9-8290BB117E40}" type="presParOf" srcId="{7AA726AA-6F60-478E-B4A5-BF3D46B7943A}" destId="{A532D932-3021-4372-B4D1-65F668C46669}" srcOrd="4" destOrd="0" presId="urn:microsoft.com/office/officeart/2018/2/layout/IconVerticalSolidList"/>
    <dgm:cxn modelId="{F485173E-5B75-41FC-99D8-557C4322C4A4}" type="presParOf" srcId="{BB4009DF-B41D-430D-B63F-DFFC1FA5495D}" destId="{7BDE76FC-4360-4B6D-848A-FE945B9530F4}" srcOrd="1" destOrd="0" presId="urn:microsoft.com/office/officeart/2018/2/layout/IconVerticalSolidList"/>
    <dgm:cxn modelId="{F508FD76-2325-4E36-A2D2-1D6315A87B2D}" type="presParOf" srcId="{BB4009DF-B41D-430D-B63F-DFFC1FA5495D}" destId="{10E43200-FCC7-46AC-BBCC-78162B97BF8A}" srcOrd="2" destOrd="0" presId="urn:microsoft.com/office/officeart/2018/2/layout/IconVerticalSolidList"/>
    <dgm:cxn modelId="{B5F7E95A-21B8-49F4-B5D2-A5ED2FEA911F}" type="presParOf" srcId="{10E43200-FCC7-46AC-BBCC-78162B97BF8A}" destId="{17E76D26-DAE2-4320-86E6-F074D55A850A}" srcOrd="0" destOrd="0" presId="urn:microsoft.com/office/officeart/2018/2/layout/IconVerticalSolidList"/>
    <dgm:cxn modelId="{FEA720BD-FF1B-4623-969C-9B2C4BB59672}" type="presParOf" srcId="{10E43200-FCC7-46AC-BBCC-78162B97BF8A}" destId="{8442CD48-9FB1-4DF8-A38F-6BDB1B1A5306}" srcOrd="1" destOrd="0" presId="urn:microsoft.com/office/officeart/2018/2/layout/IconVerticalSolidList"/>
    <dgm:cxn modelId="{53AD7501-B280-4431-9B06-5BDFEC7C31ED}" type="presParOf" srcId="{10E43200-FCC7-46AC-BBCC-78162B97BF8A}" destId="{C1428706-78CD-413C-B496-C004B4E02BB7}" srcOrd="2" destOrd="0" presId="urn:microsoft.com/office/officeart/2018/2/layout/IconVerticalSolidList"/>
    <dgm:cxn modelId="{5891CCC4-3C48-4F0B-85ED-5247582220B3}" type="presParOf" srcId="{10E43200-FCC7-46AC-BBCC-78162B97BF8A}" destId="{0F1840A9-054B-496B-8988-0C75DCB6828D}" srcOrd="3" destOrd="0" presId="urn:microsoft.com/office/officeart/2018/2/layout/IconVerticalSolidList"/>
    <dgm:cxn modelId="{0DCCC4C2-3E74-4EE4-9039-F7A3E218AF52}" type="presParOf" srcId="{10E43200-FCC7-46AC-BBCC-78162B97BF8A}" destId="{CC7E940F-7573-4F12-8CD4-DF8505958ACB}" srcOrd="4" destOrd="0" presId="urn:microsoft.com/office/officeart/2018/2/layout/IconVerticalSolidList"/>
    <dgm:cxn modelId="{93D79579-1B07-41D3-B951-B81D2BB7CFC4}" type="presParOf" srcId="{BB4009DF-B41D-430D-B63F-DFFC1FA5495D}" destId="{CEFE91E2-B86A-454F-923E-11B9131656C5}" srcOrd="3" destOrd="0" presId="urn:microsoft.com/office/officeart/2018/2/layout/IconVerticalSolidList"/>
    <dgm:cxn modelId="{7BCCC8DB-3922-4905-AFE2-FE7E752B2D41}" type="presParOf" srcId="{BB4009DF-B41D-430D-B63F-DFFC1FA5495D}" destId="{BCB5FE29-5BF8-4184-8B2B-1F0EAD8C6EF5}" srcOrd="4" destOrd="0" presId="urn:microsoft.com/office/officeart/2018/2/layout/IconVerticalSolidList"/>
    <dgm:cxn modelId="{D11D31A9-2F8A-4586-BF71-41E6242CD852}" type="presParOf" srcId="{BCB5FE29-5BF8-4184-8B2B-1F0EAD8C6EF5}" destId="{58BED507-1CF4-401B-BE5B-D0B9E851F78F}" srcOrd="0" destOrd="0" presId="urn:microsoft.com/office/officeart/2018/2/layout/IconVerticalSolidList"/>
    <dgm:cxn modelId="{971DEBE8-83A0-4AF9-A05E-E1334DE45637}" type="presParOf" srcId="{BCB5FE29-5BF8-4184-8B2B-1F0EAD8C6EF5}" destId="{10B061D3-17CA-458D-B13C-F329A9A066A5}" srcOrd="1" destOrd="0" presId="urn:microsoft.com/office/officeart/2018/2/layout/IconVerticalSolidList"/>
    <dgm:cxn modelId="{64F11A94-5127-44DA-9680-3DE6F3C94F2D}" type="presParOf" srcId="{BCB5FE29-5BF8-4184-8B2B-1F0EAD8C6EF5}" destId="{14F88F7E-AEC2-4DC1-9A1D-A90F449E1F38}" srcOrd="2" destOrd="0" presId="urn:microsoft.com/office/officeart/2018/2/layout/IconVerticalSolidList"/>
    <dgm:cxn modelId="{095CDF76-55D2-4A50-AFBE-EE59AF030740}" type="presParOf" srcId="{BCB5FE29-5BF8-4184-8B2B-1F0EAD8C6EF5}" destId="{821683AE-3CEE-43B9-ADE6-A13EFC7BD953}" srcOrd="3" destOrd="0" presId="urn:microsoft.com/office/officeart/2018/2/layout/IconVerticalSolidList"/>
    <dgm:cxn modelId="{ACABF6EE-7BA1-4DAF-A811-EE844936AE16}" type="presParOf" srcId="{BCB5FE29-5BF8-4184-8B2B-1F0EAD8C6EF5}" destId="{B995E46E-2BEE-459C-9A0D-F45D1F23C8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D1A90-5CDD-4F32-B4FA-E71C28FDC5A9}">
      <dsp:nvSpPr>
        <dsp:cNvPr id="0" name=""/>
        <dsp:cNvSpPr/>
      </dsp:nvSpPr>
      <dsp:spPr>
        <a:xfrm>
          <a:off x="0" y="28595"/>
          <a:ext cx="8435280" cy="13930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4AD921-88B2-41B4-B42F-2B40DFB36692}">
      <dsp:nvSpPr>
        <dsp:cNvPr id="0" name=""/>
        <dsp:cNvSpPr/>
      </dsp:nvSpPr>
      <dsp:spPr>
        <a:xfrm>
          <a:off x="421391" y="314027"/>
          <a:ext cx="766167" cy="766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0E66B-E86A-43D5-BF46-419F27E95517}">
      <dsp:nvSpPr>
        <dsp:cNvPr id="0" name=""/>
        <dsp:cNvSpPr/>
      </dsp:nvSpPr>
      <dsp:spPr>
        <a:xfrm>
          <a:off x="1608951" y="595"/>
          <a:ext cx="3795876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MCQ test </a:t>
          </a:r>
          <a:endParaRPr lang="en-US" sz="2500" kern="1200" dirty="0"/>
        </a:p>
      </dsp:txBody>
      <dsp:txXfrm>
        <a:off x="1608951" y="595"/>
        <a:ext cx="3795876" cy="1393031"/>
      </dsp:txXfrm>
    </dsp:sp>
    <dsp:sp modelId="{A532D932-3021-4372-B4D1-65F668C46669}">
      <dsp:nvSpPr>
        <dsp:cNvPr id="0" name=""/>
        <dsp:cNvSpPr/>
      </dsp:nvSpPr>
      <dsp:spPr>
        <a:xfrm>
          <a:off x="5415145" y="595"/>
          <a:ext cx="3009815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15 Oct 3pm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Will assess topics covered in lectures 1-11</a:t>
          </a:r>
          <a:endParaRPr lang="en-US" sz="2000" kern="1200" dirty="0"/>
        </a:p>
      </dsp:txBody>
      <dsp:txXfrm>
        <a:off x="5415145" y="595"/>
        <a:ext cx="3009815" cy="1393031"/>
      </dsp:txXfrm>
    </dsp:sp>
    <dsp:sp modelId="{17E76D26-DAE2-4320-86E6-F074D55A850A}">
      <dsp:nvSpPr>
        <dsp:cNvPr id="0" name=""/>
        <dsp:cNvSpPr/>
      </dsp:nvSpPr>
      <dsp:spPr>
        <a:xfrm>
          <a:off x="0" y="1756789"/>
          <a:ext cx="8435280" cy="13930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2CD48-9FB1-4DF8-A38F-6BDB1B1A5306}">
      <dsp:nvSpPr>
        <dsp:cNvPr id="0" name=""/>
        <dsp:cNvSpPr/>
      </dsp:nvSpPr>
      <dsp:spPr>
        <a:xfrm>
          <a:off x="421391" y="2055316"/>
          <a:ext cx="766167" cy="766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840A9-054B-496B-8988-0C75DCB6828D}">
      <dsp:nvSpPr>
        <dsp:cNvPr id="0" name=""/>
        <dsp:cNvSpPr/>
      </dsp:nvSpPr>
      <dsp:spPr>
        <a:xfrm>
          <a:off x="1608951" y="1741884"/>
          <a:ext cx="3795876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Taken in class</a:t>
          </a:r>
          <a:endParaRPr lang="en-US" sz="2500" kern="1200" dirty="0"/>
        </a:p>
      </dsp:txBody>
      <dsp:txXfrm>
        <a:off x="1608951" y="1741884"/>
        <a:ext cx="3795876" cy="1393031"/>
      </dsp:txXfrm>
    </dsp:sp>
    <dsp:sp modelId="{CC7E940F-7573-4F12-8CD4-DF8505958ACB}">
      <dsp:nvSpPr>
        <dsp:cNvPr id="0" name=""/>
        <dsp:cNvSpPr/>
      </dsp:nvSpPr>
      <dsp:spPr>
        <a:xfrm>
          <a:off x="5404827" y="1741884"/>
          <a:ext cx="3030452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On own device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Practice test will be available beforehand</a:t>
          </a:r>
          <a:endParaRPr lang="en-US" sz="2000" kern="1200" dirty="0"/>
        </a:p>
      </dsp:txBody>
      <dsp:txXfrm>
        <a:off x="5404827" y="1741884"/>
        <a:ext cx="3030452" cy="1393031"/>
      </dsp:txXfrm>
    </dsp:sp>
    <dsp:sp modelId="{58BED507-1CF4-401B-BE5B-D0B9E851F78F}">
      <dsp:nvSpPr>
        <dsp:cNvPr id="0" name=""/>
        <dsp:cNvSpPr/>
      </dsp:nvSpPr>
      <dsp:spPr>
        <a:xfrm>
          <a:off x="0" y="3483173"/>
          <a:ext cx="8435280" cy="13930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061D3-17CA-458D-B13C-F329A9A066A5}">
      <dsp:nvSpPr>
        <dsp:cNvPr id="0" name=""/>
        <dsp:cNvSpPr/>
      </dsp:nvSpPr>
      <dsp:spPr>
        <a:xfrm>
          <a:off x="421391" y="3796605"/>
          <a:ext cx="766167" cy="766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683AE-3CEE-43B9-ADE6-A13EFC7BD953}">
      <dsp:nvSpPr>
        <dsp:cNvPr id="0" name=""/>
        <dsp:cNvSpPr/>
      </dsp:nvSpPr>
      <dsp:spPr>
        <a:xfrm>
          <a:off x="1608951" y="3483173"/>
          <a:ext cx="3795876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30 questions</a:t>
          </a:r>
          <a:endParaRPr lang="en-US" sz="2500" kern="1200" dirty="0"/>
        </a:p>
      </dsp:txBody>
      <dsp:txXfrm>
        <a:off x="1608951" y="3483173"/>
        <a:ext cx="3795876" cy="1393031"/>
      </dsp:txXfrm>
    </dsp:sp>
    <dsp:sp modelId="{B995E46E-2BEE-459C-9A0D-F45D1F23C89C}">
      <dsp:nvSpPr>
        <dsp:cNvPr id="0" name=""/>
        <dsp:cNvSpPr/>
      </dsp:nvSpPr>
      <dsp:spPr>
        <a:xfrm>
          <a:off x="5404827" y="3483173"/>
          <a:ext cx="3030452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29" tIns="147429" rIns="147429" bIns="14742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4 answer options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30 minutes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No negative marking</a:t>
          </a:r>
          <a:endParaRPr lang="en-US" sz="2000" kern="1200" dirty="0"/>
        </a:p>
      </dsp:txBody>
      <dsp:txXfrm>
        <a:off x="5404827" y="3483173"/>
        <a:ext cx="3030452" cy="1393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902E4-1AF5-49D1-90B4-DA3B3945D12C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BA34C-97CE-4EBF-8963-746C423C203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174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833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09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7991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352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32DB2-8751-488B-8F61-575A5814A9B0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6815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5187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4665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2764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Behaviour</a:t>
            </a:r>
            <a:r>
              <a:rPr lang="en-US" dirty="0"/>
              <a:t>: refers to actions and responses that we can directly observe</a:t>
            </a:r>
          </a:p>
          <a:p>
            <a:endParaRPr lang="en-US" dirty="0"/>
          </a:p>
          <a:p>
            <a:r>
              <a:rPr lang="en-US" dirty="0"/>
              <a:t>Mind: refers to internal states and processes such as thoughts and feelings that cannot be</a:t>
            </a:r>
          </a:p>
          <a:p>
            <a:r>
              <a:rPr lang="en-US" dirty="0"/>
              <a:t>seen directly and must be inferred from observable measurable 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8056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3014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1067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5794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6396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06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4468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5291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FCA99C-3556-45EB-B7BB-D22AF3E46DF7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1416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7274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9026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BA34C-97CE-4EBF-8963-746C423C2035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7256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AA19F56-5155-4A89-B67A-D942774DD0CD}" type="datetimeFigureOut">
              <a:rPr lang="en-IE" smtClean="0"/>
              <a:t>09/09/2025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EFCB443-C651-42DA-B424-771FB51E56CA}" type="slidenum">
              <a:rPr lang="en-IE" smtClean="0"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ondrej.zika@ucd.ie" TargetMode="External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ps.org.uk/collections/research-digest" TargetMode="External"/><Relationship Id="rId4" Type="http://schemas.openxmlformats.org/officeDocument/2006/relationships/hyperlink" Target="https://mindhacks.com/" TargetMode="External"/><Relationship Id="rId5" Type="http://schemas.openxmlformats.org/officeDocument/2006/relationships/hyperlink" Target="https://www.bbc.co.uk/programmes/b006qxx9" TargetMode="External"/><Relationship Id="rId6" Type="http://schemas.openxmlformats.org/officeDocument/2006/relationships/hyperlink" Target="https://www.npr.org/podcasts/510307/invisibilia" TargetMode="External"/><Relationship Id="rId7" Type="http://schemas.openxmlformats.org/officeDocument/2006/relationships/hyperlink" Target="https://www.npr.org/series/423302056/hidden-brain" TargetMode="External"/><Relationship Id="rId8" Type="http://schemas.openxmlformats.org/officeDocument/2006/relationships/hyperlink" Target="https://opinionsciencepodcast.com/" TargetMode="External"/><Relationship Id="rId9" Type="http://schemas.openxmlformats.org/officeDocument/2006/relationships/hyperlink" Target="https://www.bbc.co.uk/programmes/m000drbx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ibguides.ucd.ie/academicintegrity" TargetMode="Externa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QX_oy9614HQ" TargetMode="External"/><Relationship Id="rId4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sz="4800" dirty="0"/>
              <a:t>PSY10120: Introduction to Psychological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054552" cy="1752600"/>
          </a:xfrm>
        </p:spPr>
        <p:txBody>
          <a:bodyPr>
            <a:normAutofit/>
          </a:bodyPr>
          <a:lstStyle/>
          <a:p>
            <a:r>
              <a:rPr lang="en-IE" sz="3200" dirty="0"/>
              <a:t>Dr Ondrej Zika</a:t>
            </a:r>
          </a:p>
          <a:p>
            <a:r>
              <a:rPr lang="en-IE" sz="3200" dirty="0"/>
              <a:t>Lecture 1: Introduction to Psychology</a:t>
            </a:r>
          </a:p>
        </p:txBody>
      </p:sp>
    </p:spTree>
    <p:extLst>
      <p:ext uri="{BB962C8B-B14F-4D97-AF65-F5344CB8AC3E}">
        <p14:creationId xmlns:p14="http://schemas.microsoft.com/office/powerpoint/2010/main" val="200569198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Today's roadmap (50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defRPr sz="2400" b="1">
                <a:solidFill>
                  <a:srgbClr val="2DA2BF"/>
                </a:solidFill>
              </a:defRPr>
            </a:pPr>
            <a:r>
              <a:rPr/>
              <a:t>Module logistics  (~15 min)</a:t>
            </a:r>
          </a:p>
          <a:p>
            <a:pPr lvl="1">
              <a:defRPr sz="1800" b="0">
                <a:solidFill>
                  <a:srgbClr val="464646"/>
                </a:solidFill>
              </a:defRPr>
            </a:pPr>
            <a:r>
              <a:rPr/>
              <a:t>coordinator, timetable, Brightspace, assessment, academic integrity</a:t>
            </a:r>
          </a:p>
          <a:p>
            <a:pPr>
              <a:spcBef>
                <a:spcPts val="1800"/>
              </a:spcBef>
              <a:defRPr sz="2400" b="1">
                <a:solidFill>
                  <a:srgbClr val="2DA2BF"/>
                </a:solidFill>
              </a:defRPr>
            </a:pPr>
            <a:r>
              <a:rPr/>
              <a:t>What is Psychological Science?  (~30 min)</a:t>
            </a:r>
          </a:p>
          <a:p>
            <a:pPr lvl="1">
              <a:defRPr sz="1800" b="0">
                <a:solidFill>
                  <a:srgbClr val="464646"/>
                </a:solidFill>
              </a:defRPr>
            </a:pPr>
            <a:r>
              <a:rPr/>
              <a:t>five subfields of psychology, each illustrated with a classic study</a:t>
            </a:r>
          </a:p>
          <a:p>
            <a:pPr>
              <a:spcBef>
                <a:spcPts val="1800"/>
              </a:spcBef>
              <a:defRPr sz="2400" b="1">
                <a:solidFill>
                  <a:srgbClr val="2DA2BF"/>
                </a:solidFill>
              </a:defRPr>
            </a:pPr>
            <a:r>
              <a:rPr/>
              <a:t>Wrap-up  (~5 min)</a:t>
            </a:r>
          </a:p>
          <a:p>
            <a:pPr lvl="1">
              <a:defRPr sz="1800" b="0">
                <a:solidFill>
                  <a:srgbClr val="464646"/>
                </a:solidFill>
              </a:defRPr>
            </a:pPr>
            <a:r>
              <a:rPr/>
              <a:t>recap, reading for next time, what's coming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information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650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4DB4-FD13-4B96-9C36-92DDC4E8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Meet the Team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5F002-E7FD-459B-87D2-2487E4A4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931920" cy="484632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IE" sz="2800" dirty="0"/>
              <a:t/>
            </a:r>
            <a:r>
              <a:rPr sz="2000" b="1">
                <a:solidFill>
                  <a:srgbClr val="2DA2BF"/>
                </a:solidFill>
              </a:rPr>
              <a:t/>
            </a:r>
            <a:r>
              <a:rPr sz="2000" b="1">
                <a:solidFill>
                  <a:srgbClr val="2DA2BF"/>
                </a:solidFill>
              </a:rPr>
              <a:t>Module Coordinator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Dr Ondrej Zika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464646"/>
                </a:solidFill>
              </a:rPr>
              <a:t>Office: Newman Building, F203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464646"/>
                </a:solidFill>
              </a:rPr>
              <a:t>Office hours: By appointment only</a:t>
            </a:r>
          </a:p>
          <a:p>
            <a:pPr lvl="1">
              <a:spcAft>
                <a:spcPts val="1600"/>
              </a:spcAft>
            </a:pPr>
            <a:r>
              <a:rPr sz="1600" b="0">
                <a:solidFill>
                  <a:srgbClr val="464646"/>
                </a:solidFill>
                <a:hlinkClick r:id="rId2"/>
              </a:rPr>
              <a:t>ondrej.zika@ucd.ie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DA2BF"/>
                </a:solidFill>
              </a:rPr>
              <a:t>Lecturers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Christina Koretsidou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Eden Bryan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Pat Mulvaney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Tobias Constein</a:t>
            </a:r>
          </a:p>
          <a:p>
            <a:pPr lvl="1">
              <a:spcAft>
                <a:spcPts val="400"/>
              </a:spcAft>
            </a:pPr>
            <a:r>
              <a:rPr sz="1800" b="0">
                <a:solidFill>
                  <a:srgbClr val="464646"/>
                </a:solidFill>
              </a:rPr>
              <a:t>Julienne Debono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6002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A2BF"/>
                </a:solidFill>
              </a:rPr>
              <a:t>First point of contact is the Discussion Forum on Brightspace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43200"/>
            <a:ext cx="4023360" cy="24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7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3DC3-0A36-3DDA-5EAE-062B6CF8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 arrangements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06C73-636D-8F09-F77C-660C7904F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97280"/>
          </a:xfrm>
        </p:spPr>
        <p:txBody>
          <a:bodyPr>
            <a:normAutofit fontScale="70000" lnSpcReduction="20000"/>
          </a:bodyPr>
          <a:lstStyle/>
          <a:p>
            <a:r>
              <a:rPr lang="en-IE" sz="3200" dirty="0"/>
              <a:t>Wed 11:00 — G-15.AG (157)</a:t>
            </a:r>
          </a:p>
          <a:p>
            <a:r>
              <a:rPr lang="en-IE" sz="3200" dirty="0"/>
              <a:t>Thurs 15:00 — C006-HEA (110)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941" y="2880360"/>
            <a:ext cx="4512117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6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A1E4-40F0-9353-F1EC-AF56B809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Brightspace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26" y="2025021"/>
            <a:ext cx="8135622" cy="313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64646"/>
                </a:solidFill>
              </a:defRPr>
            </a:pPr>
            <a:r>
              <a:rPr/>
              <a:t>•  All lecture slides, announcements, readings and the mid-trimester quiz are hosted on Brightspace</a:t>
            </a:r>
          </a:p>
          <a:p>
            <a:pPr>
              <a:spcAft>
                <a:spcPts val="1400"/>
              </a:spcAft>
              <a:defRPr sz="2000">
                <a:solidFill>
                  <a:srgbClr val="464646"/>
                </a:solidFill>
              </a:defRPr>
            </a:pPr>
            <a:r>
              <a:rPr/>
              <a:t>•  Check the module homepage regularly for updates and messages from lecturers</a:t>
            </a:r>
          </a:p>
          <a:p>
            <a:pPr>
              <a:spcAft>
                <a:spcPts val="1400"/>
              </a:spcAft>
              <a:defRPr sz="2000">
                <a:solidFill>
                  <a:srgbClr val="464646"/>
                </a:solidFill>
              </a:defRPr>
            </a:pPr>
            <a:r>
              <a:rPr/>
              <a:t>•  The Content area follows the same lecture-by-lecture structure as this schedule</a:t>
            </a:r>
          </a:p>
        </p:txBody>
      </p:sp>
    </p:spTree>
    <p:extLst>
      <p:ext uri="{BB962C8B-B14F-4D97-AF65-F5344CB8AC3E}">
        <p14:creationId xmlns:p14="http://schemas.microsoft.com/office/powerpoint/2010/main" val="38909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53C4-0FD1-280B-827F-0DEAA85C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60" y="183209"/>
            <a:ext cx="8229600" cy="990600"/>
          </a:xfrm>
        </p:spPr>
        <p:txBody>
          <a:bodyPr/>
          <a:lstStyle/>
          <a:p>
            <a:r>
              <a:rPr lang="en-IE" dirty="0"/>
              <a:t>Lecture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324" y="980728"/>
          <a:ext cx="87325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1371600"/>
                <a:gridCol w="3794760"/>
                <a:gridCol w="1645920"/>
              </a:tblGrid>
              <a:tr h="393895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Room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Lecturer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09 Sep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Introduction to Psychology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Ondrej Zika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10 Sep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Research Methods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Tobias Constein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16 Sep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Personality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Eden Bryan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17 Sep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Biological Basis of Behaviour I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Eden Bryan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23 Sep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Biological Basis of Behaviour II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Pat Mulvaney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24 Sep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Mindfulness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Tobias Constein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30 Sep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Social Psychology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Christina Koretsidou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01 Oct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Help-Seeking, Mental health literacy &amp; Stigma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Julienne Debono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07 Oct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Cognition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Julienne Debono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08 Oct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Mental Health Disorders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Julienne Debono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14 Oct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Learning &amp; Memory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Tobias Constein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 Oct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MCQ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Eden &amp; Pat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44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D9AF-8F0C-2A08-D247-50282803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96" y="188640"/>
            <a:ext cx="8229600" cy="990600"/>
          </a:xfrm>
        </p:spPr>
        <p:txBody>
          <a:bodyPr/>
          <a:lstStyle/>
          <a:p>
            <a:r>
              <a:rPr lang="en-IE" dirty="0"/>
              <a:t>Lecture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32701" y="1182688"/>
          <a:ext cx="8732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1371600"/>
                <a:gridCol w="3794760"/>
                <a:gridCol w="1645920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Room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Lecturer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21 Oct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Perception, Sensation &amp; Language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Pat Mulvaney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22 Oct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Essay Writing Skills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Ondrej Zika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04 Nov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Psychology of Attraction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Christina Koretsidou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05 Nov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Body Image I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Eden Bryan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 Nov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Body Image II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Eden Bryan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12 Nov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Introduction to Development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Tobias Constein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18 Nov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Developmental Disorder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Tobias Constein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19 Nov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Educational Psychology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Julienne Debono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25 Nov 2026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11:00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G-15.AG (157)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Emotion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Pat Mulvaney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26 Nov 2026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15:00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C006-HEA (110)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Essay Q&amp;A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Ondrej Zika</a:t>
                      </a:r>
                    </a:p>
                  </a:txBody>
                  <a:tcPr anchor="ctr" marT="50800" marB="50800">
                    <a:solidFill>
                      <a:srgbClr val="DE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07 Dec 2026, noon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—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—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Essay deadline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64646"/>
                          </a:solidFill>
                        </a:rPr>
                        <a:t>—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13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7F15-CC89-4D75-9D2E-ED046046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Learning outcomes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5694-63D9-4D48-B1DD-F5A917DA7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2800" dirty="0"/>
              <a:t>Understand, describe and evaluate the key scientific </a:t>
            </a:r>
            <a:r>
              <a:rPr lang="en-GB" sz="2800" b="1" dirty="0"/>
              <a:t>methods</a:t>
            </a:r>
            <a:r>
              <a:rPr lang="en-GB" sz="2800" dirty="0"/>
              <a:t> used by psychologists to gather data.</a:t>
            </a:r>
          </a:p>
          <a:p>
            <a:r>
              <a:rPr lang="en-GB" sz="2800" dirty="0"/>
              <a:t>Identify, describe, compare and evaluate some of the major </a:t>
            </a:r>
            <a:r>
              <a:rPr lang="en-GB" sz="2800" b="1" dirty="0"/>
              <a:t>perspectives and theoretical approaches </a:t>
            </a:r>
            <a:r>
              <a:rPr lang="en-GB" sz="2800" dirty="0"/>
              <a:t>used in psychology.</a:t>
            </a:r>
          </a:p>
          <a:p>
            <a:r>
              <a:rPr lang="en-GB" sz="2800" dirty="0"/>
              <a:t>Describe and evaluate how psychology may be </a:t>
            </a:r>
            <a:r>
              <a:rPr lang="en-GB" sz="2800" b="1" dirty="0"/>
              <a:t>applied</a:t>
            </a:r>
            <a:r>
              <a:rPr lang="en-GB" sz="2800" dirty="0"/>
              <a:t> to improve human functioning, well-being,  learning, relationships and other activities.</a:t>
            </a:r>
          </a:p>
          <a:p>
            <a:r>
              <a:rPr lang="en-GB" sz="2800" dirty="0"/>
              <a:t>Use core </a:t>
            </a:r>
            <a:r>
              <a:rPr lang="en-GB" sz="2800" b="1" dirty="0"/>
              <a:t>terminology and concepts </a:t>
            </a:r>
            <a:r>
              <a:rPr lang="en-GB" sz="2800" dirty="0"/>
              <a:t>central to psychological understandings of human thought,  feelings and behaviour.</a:t>
            </a:r>
          </a:p>
          <a:p>
            <a:endParaRPr lang="en-GB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FD3212-FB55-49A7-B079-ADFE8E09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04" y="381000"/>
            <a:ext cx="1730565" cy="131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3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dirty="0"/>
              <a:t>Individual lecturers will recommend readings in the relevant lectures</a:t>
            </a:r>
          </a:p>
          <a:p>
            <a:r>
              <a:rPr lang="en-IE" sz="2800" dirty="0"/>
              <a:t>This can be supplemented by the corresponding chapters from Passer &amp; Smith (2019)</a:t>
            </a:r>
          </a:p>
          <a:p>
            <a:pPr lvl="1"/>
            <a:r>
              <a:rPr lang="en-IE" sz="2400" dirty="0"/>
              <a:t>Or any introductory psychology book from the James Joyce library (</a:t>
            </a:r>
            <a:r>
              <a:rPr lang="en-IE" sz="2400" dirty="0" err="1"/>
              <a:t>shelfmark</a:t>
            </a:r>
            <a:r>
              <a:rPr lang="en-IE" sz="2400" dirty="0"/>
              <a:t> 150)</a:t>
            </a:r>
          </a:p>
          <a:p>
            <a:r>
              <a:rPr lang="en-IE" sz="2800" dirty="0"/>
              <a:t>Independent reading is encouraged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GB" sz="2000" dirty="0"/>
              <a:t>Passer, M., &amp; Smith, R. (2019). </a:t>
            </a:r>
            <a:r>
              <a:rPr lang="en-GB" sz="2000" i="1" dirty="0"/>
              <a:t>Psychology: The science of mind and </a:t>
            </a:r>
            <a:r>
              <a:rPr lang="en-GB" sz="2000" i="1" dirty="0" err="1"/>
              <a:t>behavior</a:t>
            </a:r>
            <a:r>
              <a:rPr lang="en-GB" sz="2000" dirty="0"/>
              <a:t> (4th ed). New York: McGraw-Hill.</a:t>
            </a:r>
          </a:p>
        </p:txBody>
      </p:sp>
      <p:pic>
        <p:nvPicPr>
          <p:cNvPr id="3074" name="Picture 2" descr="Psychology: The Science of Mind and Behavior: Amazon.co.uk: Passer, Michael  W., Smith, Ronald E: 9780073382760: Books">
            <a:extLst>
              <a:ext uri="{FF2B5EF4-FFF2-40B4-BE49-F238E27FC236}">
                <a16:creationId xmlns:a16="http://schemas.microsoft.com/office/drawing/2014/main" id="{B4E1C192-5B00-9601-21EF-4564B3CE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589240"/>
            <a:ext cx="871675" cy="105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8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D010-8473-4021-899E-8FE16435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51" y="487878"/>
            <a:ext cx="8229600" cy="794657"/>
          </a:xfrm>
        </p:spPr>
        <p:txBody>
          <a:bodyPr/>
          <a:lstStyle/>
          <a:p>
            <a:r>
              <a:rPr lang="en-IE" dirty="0"/>
              <a:t>Other resources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A3E5-1DB1-4390-AF39-F8325719E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1294410"/>
            <a:ext cx="8547265" cy="5194465"/>
          </a:xfrm>
        </p:spPr>
        <p:txBody>
          <a:bodyPr>
            <a:normAutofit fontScale="92500"/>
          </a:bodyPr>
          <a:lstStyle/>
          <a:p>
            <a:r>
              <a:rPr lang="en-IE" dirty="0"/>
              <a:t>As well as journal articles and books, there are lots of more informal sources of interesting info about social psychology</a:t>
            </a:r>
          </a:p>
          <a:p>
            <a:endParaRPr lang="en-IE" sz="900" dirty="0"/>
          </a:p>
          <a:p>
            <a:r>
              <a:rPr lang="en-IE" dirty="0"/>
              <a:t>Blogs</a:t>
            </a:r>
          </a:p>
          <a:p>
            <a:pPr lvl="1"/>
            <a:r>
              <a:rPr lang="en-IE" dirty="0"/>
              <a:t>BPS Research Digest: </a:t>
            </a:r>
            <a:r>
              <a:rPr lang="en-IE" dirty="0">
                <a:hlinkClick r:id="rId3"/>
              </a:rPr>
              <a:t>https://www.bps.org.uk/collections/research-digest</a:t>
            </a:r>
            <a:endParaRPr lang="en-IE" dirty="0"/>
          </a:p>
          <a:p>
            <a:pPr lvl="1"/>
            <a:r>
              <a:rPr lang="en-IE" dirty="0"/>
              <a:t>(old but good) Mind Hacks: </a:t>
            </a:r>
            <a:r>
              <a:rPr lang="en-IE" dirty="0">
                <a:hlinkClick r:id="rId4"/>
              </a:rPr>
              <a:t>https://mindhacks.com/</a:t>
            </a:r>
            <a:r>
              <a:rPr lang="en-IE" dirty="0"/>
              <a:t> </a:t>
            </a:r>
          </a:p>
          <a:p>
            <a:pPr marL="0" indent="0">
              <a:buNone/>
            </a:pPr>
            <a:endParaRPr lang="en-IE" sz="900" dirty="0"/>
          </a:p>
          <a:p>
            <a:r>
              <a:rPr lang="en-IE" dirty="0"/>
              <a:t>Social media</a:t>
            </a:r>
          </a:p>
          <a:p>
            <a:pPr lvl="1"/>
            <a:r>
              <a:rPr lang="en-GB" dirty="0"/>
              <a:t>@</a:t>
            </a:r>
            <a:r>
              <a:rPr lang="en-GB" dirty="0" err="1"/>
              <a:t>UCDPsychology</a:t>
            </a:r>
            <a:endParaRPr lang="en-GB" dirty="0"/>
          </a:p>
          <a:p>
            <a:pPr lvl="1"/>
            <a:endParaRPr lang="en-IE" sz="900" dirty="0"/>
          </a:p>
          <a:p>
            <a:r>
              <a:rPr lang="en-IE" dirty="0"/>
              <a:t>Podcasts</a:t>
            </a:r>
            <a:endParaRPr lang="en-GB" dirty="0"/>
          </a:p>
          <a:p>
            <a:pPr lvl="1"/>
            <a:r>
              <a:rPr lang="en-IE" dirty="0"/>
              <a:t>All in the Mind: </a:t>
            </a:r>
            <a:r>
              <a:rPr lang="en-IE" dirty="0">
                <a:hlinkClick r:id="rId5"/>
              </a:rPr>
              <a:t>https://www.bbc.co.uk/programmes/b006qxx9</a:t>
            </a:r>
            <a:endParaRPr lang="en-IE" dirty="0"/>
          </a:p>
          <a:p>
            <a:pPr lvl="1"/>
            <a:r>
              <a:rPr lang="en-IE" dirty="0" err="1"/>
              <a:t>Invisibilia</a:t>
            </a:r>
            <a:r>
              <a:rPr lang="en-IE" dirty="0"/>
              <a:t>: </a:t>
            </a:r>
            <a:r>
              <a:rPr lang="en-IE" dirty="0">
                <a:hlinkClick r:id="rId6"/>
              </a:rPr>
              <a:t>https://www.npr.org/podcasts/510307/invisibilia</a:t>
            </a:r>
            <a:endParaRPr lang="en-IE" dirty="0"/>
          </a:p>
          <a:p>
            <a:pPr lvl="1"/>
            <a:r>
              <a:rPr lang="en-IE" dirty="0"/>
              <a:t>Hidden Brain: </a:t>
            </a:r>
            <a:r>
              <a:rPr lang="en-IE" dirty="0">
                <a:hlinkClick r:id="rId7"/>
              </a:rPr>
              <a:t>https://www.npr.org/series/423302056/hidden-brain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Opinion Science: </a:t>
            </a:r>
            <a:r>
              <a:rPr lang="en-IE" dirty="0">
                <a:hlinkClick r:id="rId8"/>
              </a:rPr>
              <a:t>https://opinionsciencepodcast.com/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BBC–The Science of Evil: </a:t>
            </a:r>
            <a:r>
              <a:rPr lang="en-IE" dirty="0">
                <a:hlinkClick r:id="rId9"/>
              </a:rPr>
              <a:t>https://www.bbc.co.uk/programmes/m000drbx</a:t>
            </a:r>
            <a:r>
              <a:rPr lang="en-IE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036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3077-E315-4CAD-82C1-62B94BAF6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IE" dirty="0"/>
              <a:t>Assessment 1: MCQ (50%)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5F23CD-C90A-419F-A19F-8B6D032DD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931762"/>
              </p:ext>
            </p:extLst>
          </p:nvPr>
        </p:nvGraphicFramePr>
        <p:xfrm>
          <a:off x="457200" y="1600200"/>
          <a:ext cx="843528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29149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232F-9EA6-0FC6-1998-0BBA639E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Assessment 2: Essay Assignment (50%)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54FD-FD7A-B6CE-77ED-A3D6FDE49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E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Deadline: 7th Dec. at noon</a:t>
            </a:r>
            <a:r>
              <a:rPr lang="en-IE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IE" dirty="0"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IE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n-IE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I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E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r>
              <a:rPr lang="en-IE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1,000 words (+/- 10%) excluding References section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Details will be posted in week 8, including grading rubric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E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E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52743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76B4-0CEF-2FFF-3704-764364E44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822471"/>
            <a:ext cx="7768250" cy="806330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CADB-B48F-A444-E8FE-D845B9189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58" y="1628801"/>
            <a:ext cx="8209032" cy="427630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Plagiarism is a serious offence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Plagiarism is the inclusion, in any form of assessment, of material without due acknowledgement of its original source.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All assignments will be automatically screened by the Turnitin plagiarism detector, and the reports will be reviewed by the module coordinator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Suspected cases of plagiarism are referred to the School of Psychology Academic Integrity Committee, and may result in serious penalties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Avoid plagiarism by making sure your assignments are written in your own words, and that you have correctly cited all your sources, using APA standards</a:t>
            </a:r>
          </a:p>
          <a:p>
            <a:pPr lvl="1">
              <a:lnSpc>
                <a:spcPct val="120000"/>
              </a:lnSpc>
              <a:spcBef>
                <a:spcPts val="450"/>
              </a:spcBef>
            </a:pPr>
            <a:r>
              <a:rPr lang="en-US" sz="2600" dirty="0">
                <a:latin typeface="Aptos" panose="020B0004020202020204" pitchFamily="34" charset="0"/>
              </a:rPr>
              <a:t>Visit </a:t>
            </a:r>
            <a:r>
              <a:rPr lang="en-US" sz="2600" dirty="0">
                <a:latin typeface="Aptos" panose="020B0004020202020204" pitchFamily="34" charset="0"/>
                <a:hlinkClick r:id="rId2"/>
              </a:rPr>
              <a:t>https://libguides.ucd.ie/academicintegrity</a:t>
            </a:r>
            <a:r>
              <a:rPr lang="en-US" sz="2600" dirty="0">
                <a:latin typeface="Aptos" panose="020B0004020202020204" pitchFamily="34" charset="0"/>
              </a:rPr>
              <a:t> for guidance on how to avoid plagiarism and other forms of academic misconduct</a:t>
            </a:r>
            <a:endParaRPr lang="en-US" sz="2600" dirty="0"/>
          </a:p>
          <a:p>
            <a:pPr>
              <a:lnSpc>
                <a:spcPct val="120000"/>
              </a:lnSpc>
              <a:spcBef>
                <a:spcPts val="450"/>
              </a:spcBef>
            </a:pPr>
            <a:endParaRPr lang="en-US" sz="2475" dirty="0">
              <a:latin typeface="Aptos" panose="020B0004020202020204" pitchFamily="34" charset="0"/>
            </a:endParaRPr>
          </a:p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475" dirty="0">
                <a:latin typeface="Aptos" panose="020B0004020202020204" pitchFamily="34" charset="0"/>
              </a:rPr>
              <a:t>Please note that the use of generative AI tools (e.g. ChatGPT, Google Bard etc.) is NOT permitted in the assessments for this module.</a:t>
            </a:r>
            <a:endParaRPr lang="en-US" sz="1350" dirty="0">
              <a:latin typeface="Aptos" panose="020B0004020202020204" pitchFamily="34" charset="0"/>
            </a:endParaRPr>
          </a:p>
        </p:txBody>
      </p:sp>
      <p:pic>
        <p:nvPicPr>
          <p:cNvPr id="6" name="Picture 5" descr="A logo of a university of dublin&#10;&#10;Description automatically generated">
            <a:extLst>
              <a:ext uri="{FF2B5EF4-FFF2-40B4-BE49-F238E27FC236}">
                <a16:creationId xmlns:a16="http://schemas.microsoft.com/office/drawing/2014/main" id="{5BD3C391-BE7C-B31A-3325-7C0D94E69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67919"/>
            <a:ext cx="937183" cy="93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1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E03-D1E6-9C3D-371E-414D4174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web page&#10;&#10;Description automatically generated">
            <a:extLst>
              <a:ext uri="{FF2B5EF4-FFF2-40B4-BE49-F238E27FC236}">
                <a16:creationId xmlns:a16="http://schemas.microsoft.com/office/drawing/2014/main" id="{520CD6D4-1C77-A901-B599-FD2777042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82" y="1600200"/>
            <a:ext cx="7413635" cy="4876800"/>
          </a:xfrm>
        </p:spPr>
      </p:pic>
    </p:spTree>
    <p:extLst>
      <p:ext uri="{BB962C8B-B14F-4D97-AF65-F5344CB8AC3E}">
        <p14:creationId xmlns:p14="http://schemas.microsoft.com/office/powerpoint/2010/main" val="63815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Introducing psychological Science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5890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EFED2D6-FB63-BC27-405A-EE30C214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A297B-626B-08B0-C0F2-0800FAD8A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>
            <a:normAutofit/>
          </a:bodyPr>
          <a:lstStyle/>
          <a:p>
            <a:r>
              <a:rPr lang="en-US" dirty="0"/>
              <a:t>What made you choose this module? </a:t>
            </a:r>
          </a:p>
          <a:p>
            <a:r>
              <a:rPr lang="en-US" dirty="0"/>
              <a:t>What interests you about psychology?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97946-A8DD-E4F8-10CF-38467B7FA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013204"/>
            <a:ext cx="4038600" cy="4038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6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D8F48A-ADF1-49C1-B0EC-277EE95D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psychology?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34E4EB-3986-4676-BCF3-1DB47A538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Psychology is the scientific study of human thought and behaviour</a:t>
            </a:r>
          </a:p>
          <a:p>
            <a:endParaRPr lang="en-IE" sz="2800" dirty="0"/>
          </a:p>
          <a:p>
            <a:r>
              <a:rPr lang="en-IE" sz="2800" dirty="0"/>
              <a:t>Composed of several different subfields:</a:t>
            </a:r>
          </a:p>
          <a:p>
            <a:pPr lvl="1"/>
            <a:r>
              <a:rPr lang="en-IE" sz="2400" dirty="0"/>
              <a:t>Cognitive psychology</a:t>
            </a:r>
          </a:p>
          <a:p>
            <a:pPr lvl="1"/>
            <a:r>
              <a:rPr lang="en-IE" sz="2400" dirty="0"/>
              <a:t>Biological psychology</a:t>
            </a:r>
          </a:p>
          <a:p>
            <a:pPr lvl="1"/>
            <a:r>
              <a:rPr lang="en-IE" sz="2400" dirty="0"/>
              <a:t>Social psychology</a:t>
            </a:r>
          </a:p>
          <a:p>
            <a:pPr lvl="1"/>
            <a:r>
              <a:rPr lang="en-IE" sz="2400" dirty="0"/>
              <a:t>Developmental psychology</a:t>
            </a:r>
          </a:p>
          <a:p>
            <a:pPr lvl="1"/>
            <a:r>
              <a:rPr lang="en-IE" sz="2400" dirty="0"/>
              <a:t>Personality &amp; individual differences</a:t>
            </a:r>
            <a:endParaRPr lang="en-GB" sz="2400" dirty="0"/>
          </a:p>
          <a:p>
            <a:pPr lvl="1"/>
            <a:r>
              <a:rPr lang="en-IE" sz="2400" dirty="0"/>
              <a:t>Computational psychology &amp; neuroscience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763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 anchor="ctr">
            <a:normAutofit/>
          </a:bodyPr>
          <a:lstStyle/>
          <a:p>
            <a:r>
              <a:rPr lang="en-IE" dirty="0"/>
              <a:t>Cognitive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sz="2200"/>
              <a:t>The scientific study of mental processes </a:t>
            </a:r>
          </a:p>
          <a:p>
            <a:pPr>
              <a:lnSpc>
                <a:spcPct val="90000"/>
              </a:lnSpc>
            </a:pPr>
            <a:endParaRPr lang="en-IE" sz="2200"/>
          </a:p>
          <a:p>
            <a:pPr>
              <a:lnSpc>
                <a:spcPct val="90000"/>
              </a:lnSpc>
            </a:pPr>
            <a:r>
              <a:rPr lang="en-IE" sz="2200"/>
              <a:t>This includes concepts, perception, memory, emotion and reasoning</a:t>
            </a:r>
          </a:p>
          <a:p>
            <a:pPr>
              <a:lnSpc>
                <a:spcPct val="90000"/>
              </a:lnSpc>
            </a:pPr>
            <a:endParaRPr lang="en-IE" sz="2200"/>
          </a:p>
          <a:p>
            <a:pPr>
              <a:lnSpc>
                <a:spcPct val="90000"/>
              </a:lnSpc>
            </a:pPr>
            <a:r>
              <a:rPr lang="en-IE" sz="2200"/>
              <a:t>What does the mind do and what are its limits?</a:t>
            </a:r>
          </a:p>
          <a:p>
            <a:pPr>
              <a:lnSpc>
                <a:spcPct val="90000"/>
              </a:lnSpc>
            </a:pPr>
            <a:endParaRPr lang="en-IE" sz="2200"/>
          </a:p>
          <a:p>
            <a:pPr>
              <a:lnSpc>
                <a:spcPct val="90000"/>
              </a:lnSpc>
            </a:pPr>
            <a:r>
              <a:rPr lang="en-IE" sz="2200"/>
              <a:t>Cognitive psychologists often draw on ideas from computer science and neuroscience</a:t>
            </a:r>
          </a:p>
        </p:txBody>
      </p:sp>
      <p:pic>
        <p:nvPicPr>
          <p:cNvPr id="6" name="Picture 5" descr="A group of people working on a human head&#10;&#10;Description automatically generated">
            <a:extLst>
              <a:ext uri="{FF2B5EF4-FFF2-40B4-BE49-F238E27FC236}">
                <a16:creationId xmlns:a16="http://schemas.microsoft.com/office/drawing/2014/main" id="{E27E2F82-E8B7-C743-C7E8-81E1782B0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750249"/>
            <a:ext cx="4038600" cy="2564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6163108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Computational Psychology &amp; Neuroscience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/>
              <a:t>Uses computational models and simulations to understand how the mind and brain process information</a:t>
            </a:r>
          </a:p>
          <a:p>
            <a:pPr/>
            <a:r>
              <a:rPr sz="2400"/>
              <a:t>Bridges cognitive psychology (the “software” of thought) and biological psychology (the “hardware” of the brain)</a:t>
            </a:r>
          </a:p>
          <a:p>
            <a:pPr/>
            <a:r>
              <a:rPr sz="2400"/>
              <a:t>Draws on statistics, computer science and machine learning to model neural activity and behaviour</a:t>
            </a:r>
          </a:p>
          <a:p>
            <a:pPr/>
            <a:r>
              <a:rPr sz="2400"/>
              <a:t>Growing applications include computational psychiatry, brain-computer interfaces, and AI-inspired models of learning and memory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of a classic cognitive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Framing of risk (Tversky &amp; Kahneman, 1981)</a:t>
            </a:r>
          </a:p>
          <a:p>
            <a:r>
              <a:rPr lang="en-IE" dirty="0"/>
              <a:t>Imagine 600 people are affected by a deadly disease. There is a treatment, but it is risky…</a:t>
            </a:r>
          </a:p>
          <a:p>
            <a:r>
              <a:rPr lang="en-IE" dirty="0"/>
              <a:t>There is a 33% chance of saving all 600 people, 66% probability of saving no one</a:t>
            </a:r>
          </a:p>
          <a:p>
            <a:pPr marL="274320" lvl="1" indent="0" algn="ctr">
              <a:buNone/>
            </a:pPr>
            <a:r>
              <a:rPr lang="en-IE" dirty="0"/>
              <a:t>Vs.</a:t>
            </a:r>
          </a:p>
          <a:p>
            <a:r>
              <a:rPr lang="en-IE" dirty="0"/>
              <a:t>There is a 66% probability that all 600 will die, 33% chance that no one will die</a:t>
            </a:r>
          </a:p>
          <a:p>
            <a:endParaRPr lang="en-IE" dirty="0"/>
          </a:p>
          <a:p>
            <a:r>
              <a:rPr lang="en-IE" dirty="0"/>
              <a:t>72% of people who saw the first frame would approve the treatment, whereas only 22% who saw the second would</a:t>
            </a:r>
          </a:p>
          <a:p>
            <a:endParaRPr lang="en-IE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6215390"/>
            <a:ext cx="860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400" dirty="0" err="1"/>
              <a:t>Tversky</a:t>
            </a:r>
            <a:r>
              <a:rPr lang="en-IE" sz="1400" dirty="0"/>
              <a:t>, A., &amp; </a:t>
            </a:r>
            <a:r>
              <a:rPr lang="en-IE" sz="1400" dirty="0" err="1"/>
              <a:t>Kahneman</a:t>
            </a:r>
            <a:r>
              <a:rPr lang="en-IE" sz="1400" dirty="0"/>
              <a:t>, D. (1981). The framing of decisions and the psychology of choice. </a:t>
            </a:r>
            <a:r>
              <a:rPr lang="en-IE" sz="1400" i="1" dirty="0"/>
              <a:t>Science, 211</a:t>
            </a:r>
            <a:r>
              <a:rPr lang="en-IE" sz="1400" dirty="0"/>
              <a:t>(4481), 453-458. </a:t>
            </a:r>
          </a:p>
        </p:txBody>
      </p:sp>
    </p:spTree>
    <p:extLst>
      <p:ext uri="{BB962C8B-B14F-4D97-AF65-F5344CB8AC3E}">
        <p14:creationId xmlns:p14="http://schemas.microsoft.com/office/powerpoint/2010/main" val="348980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B6A0-94F5-4FA1-9AA4-CBDC9B38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Biological Psychology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C549-BAE5-44B6-AD7F-6DE7FA07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sz="2800" b="1" dirty="0"/>
              <a:t>Behavioural neuroscience </a:t>
            </a:r>
            <a:r>
              <a:rPr lang="en-IE" sz="2800" dirty="0"/>
              <a:t>studies the biological underpinnings of thought, emotion and behaviour</a:t>
            </a:r>
          </a:p>
          <a:p>
            <a:endParaRPr lang="en-IE" sz="2800" dirty="0"/>
          </a:p>
          <a:p>
            <a:r>
              <a:rPr lang="en-IE" sz="2800" dirty="0"/>
              <a:t>Involves many biological structures/processes, including:</a:t>
            </a:r>
          </a:p>
          <a:p>
            <a:pPr lvl="1"/>
            <a:r>
              <a:rPr lang="en-IE" sz="2400" dirty="0"/>
              <a:t>Brain regions</a:t>
            </a:r>
          </a:p>
          <a:p>
            <a:pPr lvl="1"/>
            <a:r>
              <a:rPr lang="en-IE" sz="2400" dirty="0"/>
              <a:t>Neurochemicals</a:t>
            </a:r>
          </a:p>
          <a:p>
            <a:pPr lvl="1"/>
            <a:r>
              <a:rPr lang="en-IE" sz="2400" dirty="0"/>
              <a:t>Genes</a:t>
            </a:r>
          </a:p>
          <a:p>
            <a:pPr lvl="1"/>
            <a:r>
              <a:rPr lang="en-IE" sz="2400" dirty="0"/>
              <a:t>Even the immune system!</a:t>
            </a:r>
          </a:p>
          <a:p>
            <a:pPr lvl="1"/>
            <a:endParaRPr lang="en-IE" sz="2400" dirty="0"/>
          </a:p>
          <a:p>
            <a:r>
              <a:rPr lang="en-IE" sz="2800" dirty="0"/>
              <a:t>Greatly advanced in recent years with development of brain imaging technology e.g. fMRI 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6A5E4-25C1-429B-BD23-ACF4A46C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3356992"/>
            <a:ext cx="1380153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3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E108-F2A1-4B53-B0A2-0ABA0EF91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of a classic neuroscientific study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D3FD1-7EB2-4401-A23C-69B864FB6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2520"/>
            <a:ext cx="8435280" cy="4876800"/>
          </a:xfrm>
        </p:spPr>
        <p:txBody>
          <a:bodyPr/>
          <a:lstStyle/>
          <a:p>
            <a:r>
              <a:rPr lang="en-IE" b="1" dirty="0"/>
              <a:t>Hippocampi of London taxi-drivers </a:t>
            </a:r>
            <a:r>
              <a:rPr lang="en-IE" sz="2000" b="1" dirty="0"/>
              <a:t>(Maguire et al., 2000)</a:t>
            </a:r>
            <a:endParaRPr lang="en-IE" b="1" dirty="0"/>
          </a:p>
          <a:p>
            <a:r>
              <a:rPr lang="en-GB" dirty="0"/>
              <a:t>Taxi-drivers have highly developed visuospatial memory </a:t>
            </a:r>
          </a:p>
          <a:p>
            <a:r>
              <a:rPr lang="en-GB" dirty="0"/>
              <a:t>The hippocampus is a brain region involved in memory</a:t>
            </a:r>
          </a:p>
          <a:p>
            <a:r>
              <a:rPr lang="en-GB" dirty="0"/>
              <a:t>Maguire et al. (2000) showed that experienced taxi-drivers had larger hippocampi than novice or non-drivers</a:t>
            </a:r>
          </a:p>
          <a:p>
            <a:r>
              <a:rPr lang="en-GB" dirty="0"/>
              <a:t>Key demonstration of </a:t>
            </a:r>
            <a:r>
              <a:rPr lang="en-GB" u="sng" dirty="0"/>
              <a:t>neuroplasticity</a:t>
            </a:r>
            <a:r>
              <a:rPr lang="en-GB" dirty="0"/>
              <a:t>: the brain’s ability to change with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5C33-DACF-462C-BD14-5F4CBA97FF0C}"/>
              </a:ext>
            </a:extLst>
          </p:cNvPr>
          <p:cNvSpPr txBox="1"/>
          <p:nvPr/>
        </p:nvSpPr>
        <p:spPr>
          <a:xfrm>
            <a:off x="323528" y="6021288"/>
            <a:ext cx="8712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Maguire, E. A., </a:t>
            </a:r>
            <a:r>
              <a:rPr lang="en-GB" sz="1400" dirty="0" err="1"/>
              <a:t>Gadian</a:t>
            </a:r>
            <a:r>
              <a:rPr lang="en-GB" sz="1400" dirty="0"/>
              <a:t>, D. G., </a:t>
            </a:r>
            <a:r>
              <a:rPr lang="en-GB" sz="1400" dirty="0" err="1"/>
              <a:t>Johnsrude</a:t>
            </a:r>
            <a:r>
              <a:rPr lang="en-GB" sz="1400" dirty="0"/>
              <a:t>, I. S., Good, C. D., Ashburner, J., </a:t>
            </a:r>
            <a:r>
              <a:rPr lang="en-GB" sz="1400" dirty="0" err="1"/>
              <a:t>Frackowiak</a:t>
            </a:r>
            <a:r>
              <a:rPr lang="en-GB" sz="1400" dirty="0"/>
              <a:t>, R. S., &amp; Frith, C. D. (2000). Navigation-related structural change in the hippocampi of taxi drivers. </a:t>
            </a:r>
            <a:r>
              <a:rPr lang="en-GB" sz="1400" i="1" dirty="0"/>
              <a:t>Proceedings of the National Academy of Sciences</a:t>
            </a:r>
            <a:r>
              <a:rPr lang="en-GB" sz="1400" dirty="0"/>
              <a:t>, </a:t>
            </a:r>
            <a:r>
              <a:rPr lang="en-GB" sz="1400" i="1" dirty="0"/>
              <a:t>97</a:t>
            </a:r>
            <a:r>
              <a:rPr lang="en-GB" sz="1400" dirty="0"/>
              <a:t>(8), 4398-4403.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1990F-049B-4202-8B00-750BB247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844" y="4441316"/>
            <a:ext cx="3015926" cy="150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95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Social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56370"/>
            <a:ext cx="8229600" cy="4876800"/>
          </a:xfrm>
        </p:spPr>
        <p:txBody>
          <a:bodyPr/>
          <a:lstStyle/>
          <a:p>
            <a:r>
              <a:rPr lang="en-IE" dirty="0"/>
              <a:t>The scientific study of how people think, feel and act </a:t>
            </a:r>
          </a:p>
          <a:p>
            <a:pPr marL="0" indent="0">
              <a:buNone/>
            </a:pPr>
            <a:r>
              <a:rPr lang="en-IE" dirty="0"/>
              <a:t>   in relation to each other</a:t>
            </a:r>
          </a:p>
          <a:p>
            <a:endParaRPr lang="en-IE" sz="1400" dirty="0"/>
          </a:p>
          <a:p>
            <a:r>
              <a:rPr lang="en-IE" dirty="0"/>
              <a:t>Topics like relationships, identity, attitudes and prejudice</a:t>
            </a:r>
          </a:p>
          <a:p>
            <a:endParaRPr lang="en-IE" sz="1400" dirty="0"/>
          </a:p>
          <a:p>
            <a:r>
              <a:rPr lang="en-IE" dirty="0"/>
              <a:t>We do not exist as isolated individuals - we learn from and are influenced by other people</a:t>
            </a:r>
          </a:p>
          <a:p>
            <a:endParaRPr lang="en-IE" sz="1400" dirty="0"/>
          </a:p>
          <a:p>
            <a:r>
              <a:rPr lang="en-IE" dirty="0"/>
              <a:t>Social psychology experiments often investigate how behaviour changes depending on the social context they’re 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96336" y="539685"/>
            <a:ext cx="1446795" cy="189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37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of a classic social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IE" sz="2800" b="1" dirty="0"/>
              <a:t>Minimal group studies (</a:t>
            </a:r>
            <a:r>
              <a:rPr lang="en-IE" sz="2800" b="1" dirty="0" err="1"/>
              <a:t>Tajfel</a:t>
            </a:r>
            <a:r>
              <a:rPr lang="en-IE" sz="2800" b="1" dirty="0"/>
              <a:t>, 1970)</a:t>
            </a:r>
          </a:p>
          <a:p>
            <a:pPr>
              <a:buFont typeface="Arial" charset="0"/>
              <a:buChar char="•"/>
              <a:defRPr/>
            </a:pPr>
            <a:r>
              <a:rPr lang="en-IE" sz="2800" dirty="0"/>
              <a:t>Strangers divided into groups on random basis (e.g. coin toss)</a:t>
            </a:r>
          </a:p>
          <a:p>
            <a:pPr>
              <a:buFont typeface="Arial" charset="0"/>
              <a:buChar char="•"/>
              <a:defRPr/>
            </a:pPr>
            <a:r>
              <a:rPr lang="en-IE" sz="2800" dirty="0"/>
              <a:t>Asked participants to divide money between themselves</a:t>
            </a:r>
          </a:p>
          <a:p>
            <a:pPr>
              <a:buFont typeface="Arial" charset="0"/>
              <a:buChar char="•"/>
              <a:defRPr/>
            </a:pPr>
            <a:r>
              <a:rPr lang="en-IE" sz="2800" dirty="0"/>
              <a:t>Give more to ‘ingroup’ members, even though groups are entirely arbitrary</a:t>
            </a:r>
          </a:p>
          <a:p>
            <a:pPr>
              <a:buFont typeface="Arial" charset="0"/>
              <a:buChar char="•"/>
              <a:defRPr/>
            </a:pPr>
            <a:r>
              <a:rPr lang="en-IE" sz="2800" dirty="0"/>
              <a:t>Prefer distribution where their group has the highest </a:t>
            </a:r>
            <a:r>
              <a:rPr lang="en-IE" sz="2800" i="1" dirty="0"/>
              <a:t>relative</a:t>
            </a:r>
            <a:r>
              <a:rPr lang="en-IE" sz="2800" dirty="0"/>
              <a:t> advantage, even if that means they get less money overall (e.g. €7:1 vs €12:11)</a:t>
            </a:r>
          </a:p>
          <a:p>
            <a:endParaRPr lang="en-IE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6433591"/>
            <a:ext cx="8280400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E" sz="1400" dirty="0">
                <a:latin typeface="+mn-lt"/>
                <a:ea typeface="ＭＳ Ｐゴシック" pitchFamily="34" charset="-128"/>
              </a:rPr>
              <a:t> </a:t>
            </a:r>
            <a:r>
              <a:rPr lang="en-IE" sz="1400" dirty="0" err="1">
                <a:latin typeface="+mn-lt"/>
                <a:ea typeface="ＭＳ Ｐゴシック" pitchFamily="34" charset="-128"/>
              </a:rPr>
              <a:t>Tajfel</a:t>
            </a:r>
            <a:r>
              <a:rPr lang="en-IE" sz="1400" dirty="0">
                <a:latin typeface="+mn-lt"/>
                <a:ea typeface="ＭＳ Ｐゴシック" pitchFamily="34" charset="-128"/>
              </a:rPr>
              <a:t>, H. (1970). Experiments in intergroup discrimination. </a:t>
            </a:r>
            <a:r>
              <a:rPr lang="en-IE" sz="1400" i="1" dirty="0">
                <a:latin typeface="+mn-lt"/>
                <a:ea typeface="ＭＳ Ｐゴシック" pitchFamily="34" charset="-128"/>
              </a:rPr>
              <a:t>Scientific American, 223</a:t>
            </a:r>
            <a:r>
              <a:rPr lang="en-IE" sz="1400" dirty="0">
                <a:latin typeface="+mn-lt"/>
                <a:ea typeface="ＭＳ Ｐゴシック" pitchFamily="34" charset="-128"/>
              </a:rPr>
              <a:t>, 96-102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28" y="1268760"/>
            <a:ext cx="1442523" cy="93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98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983E-8499-476A-B45D-7E0DEDE3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Developmental Psychology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89CFD-94B5-46BD-B476-AD0802FA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sz="2800" dirty="0"/>
              <a:t>The study of how cognition, emotion and behaviour change over the lifespan</a:t>
            </a:r>
          </a:p>
          <a:p>
            <a:endParaRPr lang="en-IE" sz="2800" dirty="0"/>
          </a:p>
          <a:p>
            <a:r>
              <a:rPr lang="en-IE" sz="2800" dirty="0"/>
              <a:t>How do early life experiences influence adult outcomes?</a:t>
            </a:r>
          </a:p>
          <a:p>
            <a:pPr marL="0" indent="0">
              <a:buNone/>
            </a:pPr>
            <a:endParaRPr lang="en-IE" sz="2800" dirty="0"/>
          </a:p>
          <a:p>
            <a:r>
              <a:rPr lang="en-IE" sz="2800" dirty="0"/>
              <a:t>Nature vs. nurture: How do biological inheritance and social experience interact to produce the people we become?</a:t>
            </a:r>
          </a:p>
          <a:p>
            <a:endParaRPr lang="en-IE" sz="2800" dirty="0"/>
          </a:p>
          <a:p>
            <a:r>
              <a:rPr lang="en-IE" sz="2800" dirty="0"/>
              <a:t>Traditionally concerned with infants and children, but recent increase in interest in later life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9FC4A-4090-40F4-BD39-0FF3DAC71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89" y="381000"/>
            <a:ext cx="1152128" cy="117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95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of a classic developmental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4876800"/>
          </a:xfrm>
        </p:spPr>
        <p:txBody>
          <a:bodyPr>
            <a:normAutofit lnSpcReduction="10000"/>
          </a:bodyPr>
          <a:lstStyle/>
          <a:p>
            <a:r>
              <a:rPr lang="en-IE" b="1" dirty="0"/>
              <a:t>Delayed gratification (</a:t>
            </a:r>
            <a:r>
              <a:rPr lang="en-IE" b="1" dirty="0" err="1"/>
              <a:t>Mischel</a:t>
            </a:r>
            <a:r>
              <a:rPr lang="en-IE" b="1" dirty="0"/>
              <a:t> &amp; Baker, 1975)</a:t>
            </a:r>
          </a:p>
          <a:p>
            <a:r>
              <a:rPr lang="en-IE" dirty="0"/>
              <a:t>Definition of self-control: ability to forgo a small immediate reward to obtain a larger future reward</a:t>
            </a:r>
          </a:p>
          <a:p>
            <a:r>
              <a:rPr lang="en-IE" dirty="0"/>
              <a:t>Marshmallow experiment:</a:t>
            </a:r>
          </a:p>
          <a:p>
            <a:pPr marL="0" indent="0">
              <a:buNone/>
            </a:pPr>
            <a:r>
              <a:rPr lang="en-GB" dirty="0">
                <a:hlinkClick r:id="rId3"/>
              </a:rPr>
              <a:t>https://www.youtube.com/watch?v=QX_oy9614HQ</a:t>
            </a:r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Children succeed through cognitive strategies (e.g. distraction)</a:t>
            </a:r>
          </a:p>
          <a:p>
            <a:r>
              <a:rPr lang="en-IE" dirty="0"/>
              <a:t>Early delayed gratification ability predicts academic, career and personal success in later life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573016"/>
            <a:ext cx="2344447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7300" y="6322367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err="1"/>
              <a:t>Mischel</a:t>
            </a:r>
            <a:r>
              <a:rPr lang="en-IE" sz="1200" dirty="0"/>
              <a:t>, W., &amp; Baker, N. (1975). Cognitive appraisals and transformations in delay </a:t>
            </a:r>
            <a:r>
              <a:rPr lang="en-IE" sz="1200" dirty="0" err="1"/>
              <a:t>behavior</a:t>
            </a:r>
            <a:r>
              <a:rPr lang="en-IE" sz="1200" dirty="0"/>
              <a:t>. </a:t>
            </a:r>
            <a:r>
              <a:rPr lang="en-IE" sz="1200" i="1" dirty="0"/>
              <a:t>Journal of Personality and Social Psychology</a:t>
            </a:r>
            <a:r>
              <a:rPr lang="en-IE" sz="1200" dirty="0"/>
              <a:t>, </a:t>
            </a:r>
            <a:r>
              <a:rPr lang="en-IE" sz="1200" i="1" dirty="0"/>
              <a:t>31</a:t>
            </a:r>
            <a:r>
              <a:rPr lang="en-IE" sz="1200" dirty="0"/>
              <a:t>(2), 254.</a:t>
            </a:r>
          </a:p>
        </p:txBody>
      </p:sp>
    </p:spTree>
    <p:extLst>
      <p:ext uri="{BB962C8B-B14F-4D97-AF65-F5344CB8AC3E}">
        <p14:creationId xmlns:p14="http://schemas.microsoft.com/office/powerpoint/2010/main" val="2118653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7516"/>
            <a:ext cx="8229600" cy="990600"/>
          </a:xfrm>
        </p:spPr>
        <p:txBody>
          <a:bodyPr>
            <a:normAutofit/>
          </a:bodyPr>
          <a:lstStyle/>
          <a:p>
            <a:r>
              <a:rPr lang="en-IE" dirty="0"/>
              <a:t>Personality &amp; Individual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8116"/>
            <a:ext cx="8229600" cy="4876800"/>
          </a:xfrm>
        </p:spPr>
        <p:txBody>
          <a:bodyPr/>
          <a:lstStyle/>
          <a:p>
            <a:r>
              <a:rPr lang="en-IE" dirty="0"/>
              <a:t>Most psychology investigates things people have in common - the study of individual differences focuses on how people differ</a:t>
            </a:r>
          </a:p>
          <a:p>
            <a:endParaRPr lang="en-IE" sz="3200" dirty="0"/>
          </a:p>
          <a:p>
            <a:endParaRPr lang="en-IE" sz="1000" dirty="0"/>
          </a:p>
          <a:p>
            <a:r>
              <a:rPr lang="en-IE" dirty="0"/>
              <a:t>Personality = “an individual’s characteristic pattern of thought, emotion, and behaviour, together with the psychological mechanisms – hidden or not – behind those patterns” (Funder, 1997)</a:t>
            </a:r>
          </a:p>
          <a:p>
            <a:endParaRPr lang="en-IE" sz="1000" dirty="0"/>
          </a:p>
          <a:p>
            <a:r>
              <a:rPr lang="en-IE" dirty="0"/>
              <a:t>Intelligence = “the aggregate or global capacity of the individual to act purposefully, to think rationally and to deal effectively with his environment” (Wechsler, 1940)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641115" y="6477000"/>
            <a:ext cx="8280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Funder, D.C. (1997). The personality puzzle. New York: W.W. Norton.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210046"/>
            <a:ext cx="1669822" cy="115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01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Example of a classic personality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64286" cy="4876800"/>
          </a:xfrm>
        </p:spPr>
        <p:txBody>
          <a:bodyPr>
            <a:noAutofit/>
          </a:bodyPr>
          <a:lstStyle/>
          <a:p>
            <a:r>
              <a:rPr lang="en-IE" sz="2600" b="1" dirty="0"/>
              <a:t>The Big Five (McCrae &amp; Costa, 1987)</a:t>
            </a:r>
          </a:p>
          <a:p>
            <a:r>
              <a:rPr lang="en-IE" sz="2800" dirty="0"/>
              <a:t>Factor analysis of self-rated personality data suggests personality is composed of 5 key dimensions</a:t>
            </a:r>
          </a:p>
          <a:p>
            <a:pPr marL="457200" lvl="2"/>
            <a:r>
              <a:rPr lang="en-IE" sz="2400" i="1" dirty="0"/>
              <a:t>Openness, Conscientiousness, </a:t>
            </a:r>
          </a:p>
          <a:p>
            <a:pPr marL="274320" lvl="2" indent="0">
              <a:buNone/>
            </a:pPr>
            <a:r>
              <a:rPr lang="en-IE" sz="2400" i="1" dirty="0"/>
              <a:t>Extraversion, Agreeableness, Neuroticism</a:t>
            </a:r>
          </a:p>
          <a:p>
            <a:pPr marL="457200" lvl="2"/>
            <a:r>
              <a:rPr lang="en-IE" sz="2400" dirty="0"/>
              <a:t>Mnemonic: OCEAN</a:t>
            </a:r>
          </a:p>
          <a:p>
            <a:pPr marL="457200" lvl="2"/>
            <a:endParaRPr lang="en-IE" sz="3200" dirty="0"/>
          </a:p>
          <a:p>
            <a:r>
              <a:rPr lang="en-IE" sz="2800" dirty="0"/>
              <a:t>Most of an individual’s personality can be captured by where they fall on these 5 dimensions</a:t>
            </a:r>
          </a:p>
          <a:p>
            <a:endParaRPr lang="en-IE" sz="2600" dirty="0"/>
          </a:p>
          <a:p>
            <a:endParaRPr lang="en-IE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324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McCrae, R. R., &amp; Costa, P. T. (1987). Validation of the five-factor model of personality across instruments and observers. </a:t>
            </a:r>
            <a:r>
              <a:rPr lang="en-GB" sz="1200" i="1" dirty="0"/>
              <a:t>Journal of Personality and Social Psychology, 52</a:t>
            </a:r>
            <a:r>
              <a:rPr lang="en-GB" sz="1200" dirty="0"/>
              <a:t>(1), 81.</a:t>
            </a:r>
            <a:endParaRPr lang="en-IE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D8CD2-6652-4A96-8197-A1640EC60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8" y="2974256"/>
            <a:ext cx="2317238" cy="242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89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Applying psychological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These approaches to studying thought, emotion and behaviour can all be </a:t>
            </a:r>
            <a:r>
              <a:rPr lang="en-IE" sz="2800" u="sng" dirty="0"/>
              <a:t>applied</a:t>
            </a:r>
            <a:r>
              <a:rPr lang="en-IE" sz="2800" dirty="0"/>
              <a:t> to understand and change real-world contexts</a:t>
            </a:r>
          </a:p>
          <a:p>
            <a:pPr lvl="1"/>
            <a:r>
              <a:rPr lang="en-IE" sz="2400" dirty="0"/>
              <a:t>Each approach gives a different perspective on any given phenomenon </a:t>
            </a:r>
          </a:p>
          <a:p>
            <a:pPr lvl="1"/>
            <a:endParaRPr lang="en-IE" sz="2400" dirty="0"/>
          </a:p>
          <a:p>
            <a:r>
              <a:rPr lang="en-IE" sz="2800" dirty="0"/>
              <a:t>Applied psychology fields include:</a:t>
            </a:r>
          </a:p>
          <a:p>
            <a:pPr lvl="1"/>
            <a:r>
              <a:rPr lang="en-IE" sz="2400" dirty="0"/>
              <a:t>Clinical psychology, counselling psychology, health psychology, educational psychology, forensic psychology, organisational psychology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356992"/>
            <a:ext cx="1246051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031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E3FC-699F-425F-849B-67F80F80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D5E7-E146-47BF-95DC-A2C12E817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Read 1</a:t>
            </a:r>
            <a:r>
              <a:rPr lang="en-IE" sz="2800" baseline="30000" dirty="0"/>
              <a:t>st</a:t>
            </a:r>
            <a:r>
              <a:rPr lang="en-IE" sz="2800" dirty="0"/>
              <a:t> chapter of Passer &amp; Smith (2019)</a:t>
            </a:r>
          </a:p>
          <a:p>
            <a:pPr lvl="1"/>
            <a:r>
              <a:rPr lang="en-IE" sz="2400" dirty="0"/>
              <a:t>Or any introductory psychology textbook - lots in library (James Joyce 150) and online PDFs/Google Books</a:t>
            </a:r>
          </a:p>
          <a:p>
            <a:pPr lvl="1"/>
            <a:endParaRPr lang="en-IE" sz="2400" dirty="0"/>
          </a:p>
          <a:p>
            <a:r>
              <a:rPr lang="en-IE" sz="2800" dirty="0"/>
              <a:t>Next lecture: Research Methods with Tobias Constein</a:t>
            </a:r>
          </a:p>
          <a:p>
            <a:endParaRPr lang="en-IE" sz="2800" dirty="0"/>
          </a:p>
          <a:p>
            <a:r>
              <a:rPr lang="en-IE" sz="2800" dirty="0"/>
              <a:t>Questions about module structure/assessment   ondrej.zika@ucd.ie</a:t>
            </a:r>
            <a:r>
              <a:rPr lang="en-IE" sz="2800" dirty="0" err="1"/>
              <a:t/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13059144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21640</TotalTime>
  <Words>1696</Words>
  <Application>Microsoft Macintosh PowerPoint</Application>
  <PresentationFormat>On-screen Show (4:3)</PresentationFormat>
  <Paragraphs>219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Clarity</vt:lpstr>
      <vt:lpstr>PSY10120: Introduction to Psychological science</vt:lpstr>
      <vt:lpstr>Module information</vt:lpstr>
      <vt:lpstr>Module coordinator</vt:lpstr>
      <vt:lpstr>Class arrangements</vt:lpstr>
      <vt:lpstr>Brightspace</vt:lpstr>
      <vt:lpstr>Lecture schedule</vt:lpstr>
      <vt:lpstr>Lecture schedule</vt:lpstr>
      <vt:lpstr>Learning outcomes</vt:lpstr>
      <vt:lpstr>Reading</vt:lpstr>
      <vt:lpstr>Other resources</vt:lpstr>
      <vt:lpstr>Assessment 1: MCQ (50%)</vt:lpstr>
      <vt:lpstr>Assessment 2: Essay (50%)</vt:lpstr>
      <vt:lpstr>Academic integrity</vt:lpstr>
      <vt:lpstr>PowerPoint Presentation</vt:lpstr>
      <vt:lpstr>Introducing psychological Science</vt:lpstr>
      <vt:lpstr>PowerPoint Presentation</vt:lpstr>
      <vt:lpstr>What is psychology?</vt:lpstr>
      <vt:lpstr>Cognitive Psychology</vt:lpstr>
      <vt:lpstr>Example of a classic cognitive study</vt:lpstr>
      <vt:lpstr>Biological Psychology</vt:lpstr>
      <vt:lpstr>Example of a classic neuroscientific study</vt:lpstr>
      <vt:lpstr>Social psychology</vt:lpstr>
      <vt:lpstr>Example of a classic social study</vt:lpstr>
      <vt:lpstr>Developmental Psychology</vt:lpstr>
      <vt:lpstr>Example of a classic developmental study</vt:lpstr>
      <vt:lpstr>Personality &amp; Individual Differences</vt:lpstr>
      <vt:lpstr>Example of a classic personality study</vt:lpstr>
      <vt:lpstr>Applying psychological knowledge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PSY20200: Psychology for Everyday Life</dc:title>
  <dc:creator>Cliodhna O'Connor</dc:creator>
  <cp:lastModifiedBy>Hugh Fulham-McQuillan</cp:lastModifiedBy>
  <cp:revision>29</cp:revision>
  <dcterms:created xsi:type="dcterms:W3CDTF">2020-01-14T10:29:37Z</dcterms:created>
  <dcterms:modified xsi:type="dcterms:W3CDTF">2025-09-09T14:35:29Z</dcterms:modified>
</cp:coreProperties>
</file>